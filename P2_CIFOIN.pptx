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9"/>
  </p:notesMasterIdLst>
  <p:handoutMasterIdLst>
    <p:handoutMasterId r:id="rId30"/>
  </p:handoutMasterIdLst>
  <p:sldIdLst>
    <p:sldId id="256" r:id="rId2"/>
    <p:sldId id="289" r:id="rId3"/>
    <p:sldId id="295" r:id="rId4"/>
    <p:sldId id="304" r:id="rId5"/>
    <p:sldId id="306" r:id="rId6"/>
    <p:sldId id="307" r:id="rId7"/>
    <p:sldId id="308" r:id="rId8"/>
    <p:sldId id="302" r:id="rId9"/>
    <p:sldId id="303" r:id="rId10"/>
    <p:sldId id="309" r:id="rId11"/>
    <p:sldId id="291" r:id="rId12"/>
    <p:sldId id="296" r:id="rId13"/>
    <p:sldId id="293" r:id="rId14"/>
    <p:sldId id="310" r:id="rId15"/>
    <p:sldId id="311" r:id="rId16"/>
    <p:sldId id="312" r:id="rId17"/>
    <p:sldId id="294" r:id="rId18"/>
    <p:sldId id="299" r:id="rId19"/>
    <p:sldId id="300" r:id="rId20"/>
    <p:sldId id="301" r:id="rId21"/>
    <p:sldId id="290" r:id="rId22"/>
    <p:sldId id="297" r:id="rId23"/>
    <p:sldId id="313" r:id="rId24"/>
    <p:sldId id="292" r:id="rId25"/>
    <p:sldId id="298" r:id="rId26"/>
    <p:sldId id="314" r:id="rId27"/>
    <p:sldId id="288" r:id="rId28"/>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72" d="100"/>
          <a:sy n="72" d="100"/>
        </p:scale>
        <p:origin x="1002" y="6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5/10/relationships/revisionInfo" Target="revisionInfo.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25</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110.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4.sv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4.svg"/></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869469"/>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r>
              <a:rPr lang="es-ES" b="1" spc="165" dirty="0">
                <a:latin typeface="Arial"/>
                <a:cs typeface="Arial"/>
              </a:rPr>
              <a:t>Jorge Martín de Valmaseda Sánchez</a:t>
            </a:r>
          </a:p>
          <a:p>
            <a:pPr marL="12700">
              <a:lnSpc>
                <a:spcPct val="100000"/>
              </a:lnSpc>
              <a:spcBef>
                <a:spcPts val="100"/>
              </a:spcBef>
            </a:pPr>
            <a:r>
              <a:rPr lang="es-ES" b="1" spc="165" dirty="0">
                <a:latin typeface="Arial"/>
                <a:cs typeface="Arial"/>
              </a:rPr>
              <a:t>	  Javier Prieto Llano</a:t>
            </a:r>
            <a:endParaRPr lang="es-ES" sz="1800" b="1" dirty="0">
              <a:latin typeface="Arial"/>
              <a:cs typeface="Arial"/>
            </a:endParaRPr>
          </a:p>
          <a:p>
            <a:pPr marL="12700">
              <a:lnSpc>
                <a:spcPct val="100000"/>
              </a:lnSpc>
              <a:spcBef>
                <a:spcPts val="100"/>
              </a:spcBef>
            </a:pP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Terminal + ‘</a:t>
            </a:r>
            <a:r>
              <a:rPr lang="en-US" kern="0" dirty="0" err="1">
                <a:solidFill>
                  <a:sysClr val="windowText" lastClr="000000"/>
                </a:solidFill>
                <a:sym typeface="Wingdings" pitchFamily="2" charset="2"/>
              </a:rPr>
              <a:t>uv</a:t>
            </a:r>
            <a:r>
              <a:rPr lang="en-US" kern="0" dirty="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8CDC92-DBC9-607E-A966-C9C7A89B980E}"/>
              </a:ext>
            </a:extLst>
          </p:cNvPr>
          <p:cNvSpPr>
            <a:spLocks noGrp="1"/>
          </p:cNvSpPr>
          <p:nvPr>
            <p:ph type="title"/>
          </p:nvPr>
        </p:nvSpPr>
        <p:spPr>
          <a:xfrm>
            <a:off x="590550" y="206753"/>
            <a:ext cx="10991850" cy="547628"/>
          </a:xfrm>
        </p:spPr>
        <p:txBody>
          <a:bodyPr/>
          <a:lstStyle/>
          <a:p>
            <a:r>
              <a:rPr lang="en-US" sz="2500" dirty="0"/>
              <a:t>Learning outcome #1 – Directional coupler cross-section in </a:t>
            </a:r>
            <a:r>
              <a:rPr lang="en-US" sz="2500" dirty="0" err="1"/>
              <a:t>GDSFactory</a:t>
            </a:r>
            <a:br>
              <a:rPr lang="es-ES" sz="2500" spc="-5" dirty="0">
                <a:latin typeface="+mj-lt"/>
                <a:cs typeface="Lucida Sans"/>
              </a:rPr>
            </a:br>
            <a:endParaRPr lang="es-ES" sz="2500" dirty="0"/>
          </a:p>
        </p:txBody>
      </p:sp>
      <p:sp>
        <p:nvSpPr>
          <p:cNvPr id="3" name="Marcador de texto 2">
            <a:extLst>
              <a:ext uri="{FF2B5EF4-FFF2-40B4-BE49-F238E27FC236}">
                <a16:creationId xmlns:a16="http://schemas.microsoft.com/office/drawing/2014/main" id="{DA18148C-7C9A-3FF6-A224-8C86C940F82C}"/>
              </a:ext>
            </a:extLst>
          </p:cNvPr>
          <p:cNvSpPr>
            <a:spLocks noGrp="1"/>
          </p:cNvSpPr>
          <p:nvPr>
            <p:ph type="body" idx="1"/>
          </p:nvPr>
        </p:nvSpPr>
        <p:spPr>
          <a:xfrm>
            <a:off x="609600" y="754380"/>
            <a:ext cx="10972800" cy="6401753"/>
          </a:xfrm>
        </p:spPr>
        <p:txBody>
          <a:bodyPr/>
          <a:lstStyle/>
          <a:p>
            <a:r>
              <a:rPr lang="es-ES" sz="1300" dirty="0">
                <a:latin typeface="Arial" panose="020B0604020202020204" pitchFamily="34" charset="0"/>
                <a:cs typeface="Arial" panose="020B0604020202020204" pitchFamily="34" charset="0"/>
              </a:rPr>
              <a:t>En primer lugar, definimos el acoplador, que consta de los siguientes parámetros geométricos: </a:t>
            </a:r>
          </a:p>
          <a:p>
            <a:pPr marL="285750" indent="-285750">
              <a:buFont typeface="Arial" panose="020B0604020202020204" pitchFamily="34" charset="0"/>
              <a:buChar char="•"/>
            </a:pPr>
            <a:endParaRPr lang="es-E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300" dirty="0">
                <a:latin typeface="Arial" panose="020B0604020202020204" pitchFamily="34" charset="0"/>
                <a:cs typeface="Arial" panose="020B0604020202020204" pitchFamily="34" charset="0"/>
              </a:rPr>
              <a:t>Longitud de onda = 1’55 </a:t>
            </a:r>
            <a:r>
              <a:rPr lang="es-ES" sz="1300" dirty="0" err="1">
                <a:latin typeface="Arial" panose="020B0604020202020204" pitchFamily="34" charset="0"/>
                <a:cs typeface="Arial" panose="020B0604020202020204" pitchFamily="34" charset="0"/>
              </a:rPr>
              <a:t>um</a:t>
            </a:r>
            <a:endParaRPr lang="es-E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300" dirty="0">
                <a:latin typeface="Arial" panose="020B0604020202020204" pitchFamily="34" charset="0"/>
                <a:cs typeface="Arial" panose="020B0604020202020204" pitchFamily="34" charset="0"/>
              </a:rPr>
              <a:t>Ancho de las 2 guías = 1’2 </a:t>
            </a:r>
            <a:r>
              <a:rPr lang="es-ES" sz="1300" dirty="0" err="1">
                <a:latin typeface="Arial" panose="020B0604020202020204" pitchFamily="34" charset="0"/>
                <a:cs typeface="Arial" panose="020B0604020202020204" pitchFamily="34" charset="0"/>
              </a:rPr>
              <a:t>um</a:t>
            </a:r>
            <a:endParaRPr lang="es-E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300" dirty="0">
                <a:latin typeface="Arial" panose="020B0604020202020204" pitchFamily="34" charset="0"/>
                <a:cs typeface="Arial" panose="020B0604020202020204" pitchFamily="34" charset="0"/>
              </a:rPr>
              <a:t>Altura de las guías = 300 nm</a:t>
            </a:r>
          </a:p>
          <a:p>
            <a:pPr marL="285750" indent="-285750">
              <a:buFont typeface="Arial" panose="020B0604020202020204" pitchFamily="34" charset="0"/>
              <a:buChar char="•"/>
            </a:pPr>
            <a:r>
              <a:rPr lang="es-ES" sz="1300" dirty="0">
                <a:latin typeface="Arial" panose="020B0604020202020204" pitchFamily="34" charset="0"/>
                <a:cs typeface="Arial" panose="020B0604020202020204" pitchFamily="34" charset="0"/>
              </a:rPr>
              <a:t>Distancia entre las 2 guías = 600 nm</a:t>
            </a:r>
          </a:p>
          <a:p>
            <a:pPr marL="285750" indent="-285750">
              <a:buFont typeface="Arial" panose="020B0604020202020204" pitchFamily="34" charset="0"/>
              <a:buChar char="•"/>
            </a:pPr>
            <a:r>
              <a:rPr lang="es-ES" sz="1300" dirty="0">
                <a:latin typeface="Arial" panose="020B0604020202020204" pitchFamily="34" charset="0"/>
                <a:cs typeface="Arial" panose="020B0604020202020204" pitchFamily="34" charset="0"/>
              </a:rPr>
              <a:t>Material del núcleo </a:t>
            </a:r>
            <a:r>
              <a:rPr lang="es-ES" sz="1300" dirty="0">
                <a:latin typeface="Arial" panose="020B0604020202020204" pitchFamily="34" charset="0"/>
                <a:cs typeface="Arial" panose="020B0604020202020204" pitchFamily="34" charset="0"/>
                <a:sym typeface="Wingdings" panose="05000000000000000000" pitchFamily="2" charset="2"/>
              </a:rPr>
              <a:t> Nitruro de Silicio</a:t>
            </a:r>
          </a:p>
          <a:p>
            <a:pPr marL="285750" indent="-285750">
              <a:buFont typeface="Arial" panose="020B0604020202020204" pitchFamily="34" charset="0"/>
              <a:buChar char="•"/>
            </a:pPr>
            <a:r>
              <a:rPr lang="es-ES" sz="1300" dirty="0">
                <a:latin typeface="Arial" panose="020B0604020202020204" pitchFamily="34" charset="0"/>
                <a:cs typeface="Arial" panose="020B0604020202020204" pitchFamily="34" charset="0"/>
                <a:sym typeface="Wingdings" panose="05000000000000000000" pitchFamily="2" charset="2"/>
              </a:rPr>
              <a:t>Material del revestimiento  Dióxido de Silicio</a:t>
            </a:r>
          </a:p>
          <a:p>
            <a:endParaRPr lang="es-ES" sz="1300" dirty="0">
              <a:latin typeface="Arial" panose="020B0604020202020204" pitchFamily="34" charset="0"/>
              <a:cs typeface="Arial" panose="020B0604020202020204" pitchFamily="34" charset="0"/>
              <a:sym typeface="Wingdings" panose="05000000000000000000" pitchFamily="2" charset="2"/>
            </a:endParaRPr>
          </a:p>
          <a:p>
            <a:r>
              <a:rPr lang="es-ES" sz="1300" dirty="0">
                <a:latin typeface="Arial" panose="020B0604020202020204" pitchFamily="34" charset="0"/>
                <a:cs typeface="Arial" panose="020B0604020202020204" pitchFamily="34" charset="0"/>
                <a:sym typeface="Wingdings" panose="05000000000000000000" pitchFamily="2" charset="2"/>
              </a:rPr>
              <a:t>Observamos en la </a:t>
            </a:r>
            <a:r>
              <a:rPr lang="es-ES" sz="1300" b="1" dirty="0">
                <a:latin typeface="Arial" panose="020B0604020202020204" pitchFamily="34" charset="0"/>
                <a:cs typeface="Arial" panose="020B0604020202020204" pitchFamily="34" charset="0"/>
                <a:sym typeface="Wingdings" panose="05000000000000000000" pitchFamily="2" charset="2"/>
              </a:rPr>
              <a:t>figura 1 </a:t>
            </a:r>
            <a:r>
              <a:rPr lang="es-ES" sz="1300" dirty="0">
                <a:latin typeface="Arial" panose="020B0604020202020204" pitchFamily="34" charset="0"/>
                <a:cs typeface="Arial" panose="020B0604020202020204" pitchFamily="34" charset="0"/>
                <a:sym typeface="Wingdings" panose="05000000000000000000" pitchFamily="2" charset="2"/>
              </a:rPr>
              <a:t>el perfil de las 2 guías que conforman nuestro acoplador</a:t>
            </a:r>
            <a:endParaRPr lang="es-E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ES" sz="1300" dirty="0">
              <a:latin typeface="Arial" panose="020B0604020202020204" pitchFamily="34" charset="0"/>
              <a:cs typeface="Arial" panose="020B0604020202020204" pitchFamily="34" charset="0"/>
            </a:endParaRPr>
          </a:p>
          <a:p>
            <a:r>
              <a:rPr lang="es-ES" sz="1300" dirty="0">
                <a:latin typeface="Arial" panose="020B0604020202020204" pitchFamily="34" charset="0"/>
                <a:cs typeface="Arial" panose="020B0604020202020204" pitchFamily="34" charset="0"/>
              </a:rPr>
              <a:t>A continuación, calculamos los índices efectivos de los 4 modos, y la fracción que nos indica </a:t>
            </a:r>
          </a:p>
          <a:p>
            <a:r>
              <a:rPr lang="es-ES" sz="1300" dirty="0">
                <a:latin typeface="Arial" panose="020B0604020202020204" pitchFamily="34" charset="0"/>
                <a:cs typeface="Arial" panose="020B0604020202020204" pitchFamily="34" charset="0"/>
              </a:rPr>
              <a:t>para cada modo, cuan transversal eléctrico o transversal magnético son. </a:t>
            </a:r>
          </a:p>
          <a:p>
            <a:endParaRPr lang="es-ES" sz="1300" dirty="0">
              <a:latin typeface="Arial" panose="020B0604020202020204" pitchFamily="34" charset="0"/>
              <a:cs typeface="Arial" panose="020B0604020202020204" pitchFamily="34" charset="0"/>
            </a:endParaRPr>
          </a:p>
          <a:p>
            <a:r>
              <a:rPr lang="es-ES" sz="1300" dirty="0" err="1">
                <a:latin typeface="Arial" panose="020B0604020202020204" pitchFamily="34" charset="0"/>
                <a:cs typeface="Arial" panose="020B0604020202020204" pitchFamily="34" charset="0"/>
              </a:rPr>
              <a:t>Neff</a:t>
            </a:r>
            <a:r>
              <a:rPr lang="es-ES" sz="1300" dirty="0">
                <a:latin typeface="Arial" panose="020B0604020202020204" pitchFamily="34" charset="0"/>
                <a:cs typeface="Arial" panose="020B0604020202020204" pitchFamily="34" charset="0"/>
              </a:rPr>
              <a:t> para TE0 = 1.60942484+1.02849974e-04j</a:t>
            </a:r>
          </a:p>
          <a:p>
            <a:r>
              <a:rPr lang="es-ES" sz="1300" dirty="0" err="1">
                <a:latin typeface="Arial" panose="020B0604020202020204" pitchFamily="34" charset="0"/>
                <a:cs typeface="Arial" panose="020B0604020202020204" pitchFamily="34" charset="0"/>
              </a:rPr>
              <a:t>Neff</a:t>
            </a:r>
            <a:r>
              <a:rPr lang="es-ES" sz="1300" dirty="0">
                <a:latin typeface="Arial" panose="020B0604020202020204" pitchFamily="34" charset="0"/>
                <a:cs typeface="Arial" panose="020B0604020202020204" pitchFamily="34" charset="0"/>
              </a:rPr>
              <a:t> para TE1 = 1.60116589+9.83178135e-05j</a:t>
            </a:r>
          </a:p>
          <a:p>
            <a:r>
              <a:rPr lang="es-ES" sz="1300" dirty="0" err="1">
                <a:latin typeface="Arial" panose="020B0604020202020204" pitchFamily="34" charset="0"/>
                <a:cs typeface="Arial" panose="020B0604020202020204" pitchFamily="34" charset="0"/>
              </a:rPr>
              <a:t>Neff</a:t>
            </a:r>
            <a:r>
              <a:rPr lang="es-ES" sz="1300" dirty="0">
                <a:latin typeface="Arial" panose="020B0604020202020204" pitchFamily="34" charset="0"/>
                <a:cs typeface="Arial" panose="020B0604020202020204" pitchFamily="34" charset="0"/>
              </a:rPr>
              <a:t> para TM0 = 1.53540293+1.77367472e-04j</a:t>
            </a:r>
          </a:p>
          <a:p>
            <a:r>
              <a:rPr lang="es-ES" sz="1300" dirty="0" err="1">
                <a:latin typeface="Arial" panose="020B0604020202020204" pitchFamily="34" charset="0"/>
                <a:cs typeface="Arial" panose="020B0604020202020204" pitchFamily="34" charset="0"/>
              </a:rPr>
              <a:t>Neff</a:t>
            </a:r>
            <a:r>
              <a:rPr lang="es-ES" sz="1300" dirty="0">
                <a:latin typeface="Arial" panose="020B0604020202020204" pitchFamily="34" charset="0"/>
                <a:cs typeface="Arial" panose="020B0604020202020204" pitchFamily="34" charset="0"/>
              </a:rPr>
              <a:t> para TM1 = 1.52057329+1.77190584e-04j</a:t>
            </a: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El ejercicio prosigue representando los campos para cada modo identificado, los modos par e impar de la componente “x” del campo eléctrico (TE) vienen representados por las </a:t>
            </a:r>
            <a:r>
              <a:rPr lang="es-ES" sz="1300" b="1" dirty="0">
                <a:latin typeface="Arial" panose="020B0604020202020204" pitchFamily="34" charset="0"/>
                <a:cs typeface="Arial" panose="020B0604020202020204" pitchFamily="34" charset="0"/>
              </a:rPr>
              <a:t>figuras 2 y 3 </a:t>
            </a:r>
            <a:r>
              <a:rPr lang="es-ES" sz="1300" dirty="0">
                <a:latin typeface="Arial" panose="020B0604020202020204" pitchFamily="34" charset="0"/>
                <a:cs typeface="Arial" panose="020B0604020202020204" pitchFamily="34" charset="0"/>
              </a:rPr>
              <a:t>respectivamente:</a:t>
            </a: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E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E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ES" sz="1300" dirty="0">
              <a:latin typeface="Arial" panose="020B0604020202020204" pitchFamily="34" charset="0"/>
              <a:cs typeface="Arial" panose="020B0604020202020204" pitchFamily="34" charset="0"/>
            </a:endParaRPr>
          </a:p>
        </p:txBody>
      </p:sp>
      <p:sp>
        <p:nvSpPr>
          <p:cNvPr id="4" name="Marcador de pie de página 3">
            <a:extLst>
              <a:ext uri="{FF2B5EF4-FFF2-40B4-BE49-F238E27FC236}">
                <a16:creationId xmlns:a16="http://schemas.microsoft.com/office/drawing/2014/main" id="{39C083BE-3BE7-AD79-3A4A-8C92902B27C0}"/>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A9727DA5-D821-0B70-BC65-A6F17EEF9735}"/>
              </a:ext>
            </a:extLst>
          </p:cNvPr>
          <p:cNvSpPr>
            <a:spLocks noGrp="1"/>
          </p:cNvSpPr>
          <p:nvPr>
            <p:ph type="sldNum" sz="quarter" idx="7"/>
          </p:nvPr>
        </p:nvSpPr>
        <p:spPr/>
        <p:txBody>
          <a:bodyPr/>
          <a:lstStyle/>
          <a:p>
            <a:fld id="{B6F15528-21DE-4FAA-801E-634DDDAF4B2B}" type="slidenum">
              <a:rPr lang="es-ES" smtClean="0"/>
              <a:t>5</a:t>
            </a:fld>
            <a:endParaRPr lang="es-ES"/>
          </a:p>
        </p:txBody>
      </p:sp>
      <p:pic>
        <p:nvPicPr>
          <p:cNvPr id="7" name="Imagen 6">
            <a:extLst>
              <a:ext uri="{FF2B5EF4-FFF2-40B4-BE49-F238E27FC236}">
                <a16:creationId xmlns:a16="http://schemas.microsoft.com/office/drawing/2014/main" id="{D5699569-8D9E-9503-8B98-9FC08F2BD8A7}"/>
              </a:ext>
            </a:extLst>
          </p:cNvPr>
          <p:cNvPicPr>
            <a:picLocks noChangeAspect="1"/>
          </p:cNvPicPr>
          <p:nvPr/>
        </p:nvPicPr>
        <p:blipFill>
          <a:blip r:embed="rId2"/>
          <a:stretch>
            <a:fillRect/>
          </a:stretch>
        </p:blipFill>
        <p:spPr>
          <a:xfrm>
            <a:off x="7496251" y="942938"/>
            <a:ext cx="3630777" cy="2550820"/>
          </a:xfrm>
          <a:prstGeom prst="rect">
            <a:avLst/>
          </a:prstGeom>
        </p:spPr>
      </p:pic>
      <p:sp>
        <p:nvSpPr>
          <p:cNvPr id="8" name="CuadroTexto 7">
            <a:extLst>
              <a:ext uri="{FF2B5EF4-FFF2-40B4-BE49-F238E27FC236}">
                <a16:creationId xmlns:a16="http://schemas.microsoft.com/office/drawing/2014/main" id="{4AE7027E-B142-1243-5BC2-77057771BB7A}"/>
              </a:ext>
            </a:extLst>
          </p:cNvPr>
          <p:cNvSpPr txBox="1"/>
          <p:nvPr/>
        </p:nvSpPr>
        <p:spPr>
          <a:xfrm>
            <a:off x="8549639" y="3244334"/>
            <a:ext cx="1524000" cy="369332"/>
          </a:xfrm>
          <a:prstGeom prst="rect">
            <a:avLst/>
          </a:prstGeom>
          <a:noFill/>
        </p:spPr>
        <p:txBody>
          <a:bodyPr wrap="square" rtlCol="0">
            <a:spAutoFit/>
          </a:bodyPr>
          <a:lstStyle/>
          <a:p>
            <a:pPr algn="ctr"/>
            <a:r>
              <a:rPr lang="es-ES" dirty="0"/>
              <a:t>Figura 1</a:t>
            </a:r>
          </a:p>
        </p:txBody>
      </p:sp>
    </p:spTree>
    <p:extLst>
      <p:ext uri="{BB962C8B-B14F-4D97-AF65-F5344CB8AC3E}">
        <p14:creationId xmlns:p14="http://schemas.microsoft.com/office/powerpoint/2010/main" val="1758113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5C68D0-42DB-EC50-60A6-74ABFF762EAC}"/>
              </a:ext>
            </a:extLst>
          </p:cNvPr>
          <p:cNvSpPr>
            <a:spLocks noGrp="1"/>
          </p:cNvSpPr>
          <p:nvPr>
            <p:ph type="title"/>
          </p:nvPr>
        </p:nvSpPr>
        <p:spPr>
          <a:xfrm>
            <a:off x="590550" y="206752"/>
            <a:ext cx="10991850" cy="769441"/>
          </a:xfrm>
        </p:spPr>
        <p:txBody>
          <a:bodyPr/>
          <a:lstStyle/>
          <a:p>
            <a:r>
              <a:rPr lang="en-US" sz="2500" dirty="0"/>
              <a:t>Learning outcome #1 – Directional coupler cross-section in </a:t>
            </a:r>
            <a:r>
              <a:rPr lang="en-US" sz="2500" dirty="0" err="1"/>
              <a:t>GDSFactory</a:t>
            </a:r>
            <a:br>
              <a:rPr lang="es-ES" sz="2500" spc="-5" dirty="0">
                <a:latin typeface="+mj-lt"/>
                <a:cs typeface="Lucida Sans"/>
              </a:rPr>
            </a:br>
            <a:endParaRPr lang="es-ES" sz="2500" dirty="0"/>
          </a:p>
        </p:txBody>
      </p:sp>
      <p:sp>
        <p:nvSpPr>
          <p:cNvPr id="3" name="Marcador de texto 2">
            <a:extLst>
              <a:ext uri="{FF2B5EF4-FFF2-40B4-BE49-F238E27FC236}">
                <a16:creationId xmlns:a16="http://schemas.microsoft.com/office/drawing/2014/main" id="{6CDFBEF6-13BD-1AF6-2F6C-409281A4D3E7}"/>
              </a:ext>
            </a:extLst>
          </p:cNvPr>
          <p:cNvSpPr>
            <a:spLocks noGrp="1"/>
          </p:cNvSpPr>
          <p:nvPr>
            <p:ph type="body" idx="1"/>
          </p:nvPr>
        </p:nvSpPr>
        <p:spPr>
          <a:xfrm>
            <a:off x="609600" y="976193"/>
            <a:ext cx="10972800" cy="6601807"/>
          </a:xfrm>
        </p:spPr>
        <p:txBody>
          <a:bodyPr/>
          <a:lstStyle/>
          <a:p>
            <a:pPr algn="just"/>
            <a:endParaRPr lang="es-ES" sz="1300" dirty="0">
              <a:latin typeface="Arial" panose="020B0604020202020204" pitchFamily="34" charset="0"/>
              <a:cs typeface="Arial" panose="020B0604020202020204" pitchFamily="34" charset="0"/>
            </a:endParaRPr>
          </a:p>
          <a:p>
            <a:pPr algn="just"/>
            <a:endParaRPr lang="es-ES" sz="1300" dirty="0">
              <a:latin typeface="Arial" panose="020B0604020202020204" pitchFamily="34" charset="0"/>
              <a:cs typeface="Arial" panose="020B0604020202020204" pitchFamily="34" charset="0"/>
            </a:endParaRPr>
          </a:p>
          <a:p>
            <a:pPr algn="just"/>
            <a:endParaRPr lang="es-ES" sz="1300" dirty="0">
              <a:latin typeface="Arial" panose="020B0604020202020204" pitchFamily="34" charset="0"/>
              <a:cs typeface="Arial" panose="020B0604020202020204" pitchFamily="34" charset="0"/>
            </a:endParaRPr>
          </a:p>
          <a:p>
            <a:pPr algn="just"/>
            <a:endParaRPr lang="es-ES" sz="1300" dirty="0">
              <a:latin typeface="Arial" panose="020B0604020202020204" pitchFamily="34" charset="0"/>
              <a:cs typeface="Arial" panose="020B0604020202020204" pitchFamily="34" charset="0"/>
            </a:endParaRPr>
          </a:p>
          <a:p>
            <a:pPr algn="just"/>
            <a:endParaRPr lang="es-ES" sz="1300" dirty="0">
              <a:latin typeface="Arial" panose="020B0604020202020204" pitchFamily="34" charset="0"/>
              <a:cs typeface="Arial" panose="020B0604020202020204" pitchFamily="34" charset="0"/>
            </a:endParaRPr>
          </a:p>
          <a:p>
            <a:pPr algn="just"/>
            <a:endParaRPr lang="es-ES" sz="1300" dirty="0">
              <a:latin typeface="Arial" panose="020B0604020202020204" pitchFamily="34" charset="0"/>
              <a:cs typeface="Arial" panose="020B0604020202020204" pitchFamily="34" charset="0"/>
            </a:endParaRPr>
          </a:p>
          <a:p>
            <a:pPr algn="just"/>
            <a:endParaRPr lang="es-ES" sz="1300" dirty="0">
              <a:latin typeface="Arial" panose="020B0604020202020204" pitchFamily="34" charset="0"/>
              <a:cs typeface="Arial" panose="020B0604020202020204" pitchFamily="34" charset="0"/>
            </a:endParaRPr>
          </a:p>
          <a:p>
            <a:pPr algn="just"/>
            <a:endParaRPr lang="es-ES" sz="1300" dirty="0">
              <a:latin typeface="Arial" panose="020B0604020202020204" pitchFamily="34" charset="0"/>
              <a:cs typeface="Arial" panose="020B0604020202020204" pitchFamily="34" charset="0"/>
            </a:endParaRPr>
          </a:p>
          <a:p>
            <a:pPr algn="just"/>
            <a:endParaRPr lang="es-ES" sz="1300" dirty="0">
              <a:latin typeface="Arial" panose="020B0604020202020204" pitchFamily="34" charset="0"/>
              <a:cs typeface="Arial" panose="020B0604020202020204" pitchFamily="34" charset="0"/>
            </a:endParaRPr>
          </a:p>
          <a:p>
            <a:pPr algn="just"/>
            <a:endParaRPr lang="es-ES" sz="1300" dirty="0">
              <a:latin typeface="Arial" panose="020B0604020202020204" pitchFamily="34" charset="0"/>
              <a:cs typeface="Arial" panose="020B0604020202020204" pitchFamily="34" charset="0"/>
            </a:endParaRPr>
          </a:p>
          <a:p>
            <a:pPr algn="just"/>
            <a:r>
              <a:rPr lang="es-ES" sz="1300" b="1" dirty="0">
                <a:latin typeface="Arial" panose="020B0604020202020204" pitchFamily="34" charset="0"/>
                <a:cs typeface="Arial" panose="020B0604020202020204" pitchFamily="34" charset="0"/>
              </a:rPr>
              <a:t>¿Cómo sabemos que la figura 2 es modo par y la 3 impar? </a:t>
            </a:r>
            <a:r>
              <a:rPr lang="es-ES" sz="1300" dirty="0">
                <a:latin typeface="Arial" panose="020B0604020202020204" pitchFamily="34" charset="0"/>
                <a:cs typeface="Arial" panose="020B0604020202020204" pitchFamily="34" charset="0"/>
              </a:rPr>
              <a:t>En el modo par los campos de las 2 guías oscilan igual (están en fase), luego la luz aparece en la gráfica representada del mismo color. Por el contrario, en el modo impar los campos de las 2 guías están en oposición de fase, luego la luz aparece representada de colores distintos, además, debido a esta oposición de fase, el acoplador presenta abundantes nulos en el revestimiento.</a:t>
            </a:r>
          </a:p>
          <a:p>
            <a:pPr algn="just"/>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También tenemos, los modos par e impar de la componente “y” del campo eléctrico (TM), y están representados respectivamente en las figuras 4 y 5:</a:t>
            </a:r>
          </a:p>
          <a:p>
            <a:pPr algn="just"/>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p:txBody>
      </p:sp>
      <p:sp>
        <p:nvSpPr>
          <p:cNvPr id="4" name="Marcador de pie de página 3">
            <a:extLst>
              <a:ext uri="{FF2B5EF4-FFF2-40B4-BE49-F238E27FC236}">
                <a16:creationId xmlns:a16="http://schemas.microsoft.com/office/drawing/2014/main" id="{35714861-A902-09AE-90D4-7BA85CD603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FB22D146-0878-7472-638C-1E186B7202CB}"/>
              </a:ext>
            </a:extLst>
          </p:cNvPr>
          <p:cNvSpPr>
            <a:spLocks noGrp="1"/>
          </p:cNvSpPr>
          <p:nvPr>
            <p:ph type="sldNum" sz="quarter" idx="7"/>
          </p:nvPr>
        </p:nvSpPr>
        <p:spPr/>
        <p:txBody>
          <a:bodyPr/>
          <a:lstStyle/>
          <a:p>
            <a:fld id="{B6F15528-21DE-4FAA-801E-634DDDAF4B2B}" type="slidenum">
              <a:rPr lang="es-ES" smtClean="0"/>
              <a:t>6</a:t>
            </a:fld>
            <a:endParaRPr lang="es-ES"/>
          </a:p>
        </p:txBody>
      </p:sp>
      <p:pic>
        <p:nvPicPr>
          <p:cNvPr id="6" name="Imagen 5">
            <a:extLst>
              <a:ext uri="{FF2B5EF4-FFF2-40B4-BE49-F238E27FC236}">
                <a16:creationId xmlns:a16="http://schemas.microsoft.com/office/drawing/2014/main" id="{9B492BCA-6DE8-B02D-9357-A4AD955AB618}"/>
              </a:ext>
            </a:extLst>
          </p:cNvPr>
          <p:cNvPicPr>
            <a:picLocks noChangeAspect="1"/>
          </p:cNvPicPr>
          <p:nvPr/>
        </p:nvPicPr>
        <p:blipFill>
          <a:blip r:embed="rId2"/>
          <a:stretch>
            <a:fillRect/>
          </a:stretch>
        </p:blipFill>
        <p:spPr>
          <a:xfrm>
            <a:off x="1857431" y="4305516"/>
            <a:ext cx="3386317" cy="2243874"/>
          </a:xfrm>
          <a:prstGeom prst="rect">
            <a:avLst/>
          </a:prstGeom>
        </p:spPr>
      </p:pic>
      <p:pic>
        <p:nvPicPr>
          <p:cNvPr id="7" name="Imagen 6">
            <a:extLst>
              <a:ext uri="{FF2B5EF4-FFF2-40B4-BE49-F238E27FC236}">
                <a16:creationId xmlns:a16="http://schemas.microsoft.com/office/drawing/2014/main" id="{1DE0569F-27D1-51D9-354E-6D5A36DCE69F}"/>
              </a:ext>
            </a:extLst>
          </p:cNvPr>
          <p:cNvPicPr>
            <a:picLocks noChangeAspect="1"/>
          </p:cNvPicPr>
          <p:nvPr/>
        </p:nvPicPr>
        <p:blipFill>
          <a:blip r:embed="rId3"/>
          <a:stretch>
            <a:fillRect/>
          </a:stretch>
        </p:blipFill>
        <p:spPr>
          <a:xfrm>
            <a:off x="7327403" y="4279213"/>
            <a:ext cx="3386317" cy="2253612"/>
          </a:xfrm>
          <a:prstGeom prst="rect">
            <a:avLst/>
          </a:prstGeom>
        </p:spPr>
      </p:pic>
      <p:sp>
        <p:nvSpPr>
          <p:cNvPr id="8" name="CuadroTexto 7">
            <a:extLst>
              <a:ext uri="{FF2B5EF4-FFF2-40B4-BE49-F238E27FC236}">
                <a16:creationId xmlns:a16="http://schemas.microsoft.com/office/drawing/2014/main" id="{036A9327-2F52-53B1-E3B9-C65EC0512B42}"/>
              </a:ext>
            </a:extLst>
          </p:cNvPr>
          <p:cNvSpPr txBox="1"/>
          <p:nvPr/>
        </p:nvSpPr>
        <p:spPr>
          <a:xfrm>
            <a:off x="2359937" y="6023737"/>
            <a:ext cx="2133600" cy="369332"/>
          </a:xfrm>
          <a:prstGeom prst="rect">
            <a:avLst/>
          </a:prstGeom>
          <a:noFill/>
        </p:spPr>
        <p:txBody>
          <a:bodyPr wrap="square" rtlCol="0">
            <a:spAutoFit/>
          </a:bodyPr>
          <a:lstStyle/>
          <a:p>
            <a:pPr algn="ctr"/>
            <a:r>
              <a:rPr lang="es-ES" dirty="0"/>
              <a:t>Figura 4</a:t>
            </a:r>
          </a:p>
        </p:txBody>
      </p:sp>
      <p:sp>
        <p:nvSpPr>
          <p:cNvPr id="9" name="CuadroTexto 8">
            <a:extLst>
              <a:ext uri="{FF2B5EF4-FFF2-40B4-BE49-F238E27FC236}">
                <a16:creationId xmlns:a16="http://schemas.microsoft.com/office/drawing/2014/main" id="{E2C1B33B-3173-A744-3CC7-616581AE456C}"/>
              </a:ext>
            </a:extLst>
          </p:cNvPr>
          <p:cNvSpPr txBox="1"/>
          <p:nvPr/>
        </p:nvSpPr>
        <p:spPr>
          <a:xfrm>
            <a:off x="7829716" y="5970902"/>
            <a:ext cx="2133600" cy="369332"/>
          </a:xfrm>
          <a:prstGeom prst="rect">
            <a:avLst/>
          </a:prstGeom>
          <a:noFill/>
        </p:spPr>
        <p:txBody>
          <a:bodyPr wrap="square" rtlCol="0">
            <a:spAutoFit/>
          </a:bodyPr>
          <a:lstStyle/>
          <a:p>
            <a:pPr algn="ctr"/>
            <a:r>
              <a:rPr lang="es-ES" dirty="0"/>
              <a:t>Figura 5</a:t>
            </a:r>
          </a:p>
        </p:txBody>
      </p:sp>
      <p:pic>
        <p:nvPicPr>
          <p:cNvPr id="11" name="Imagen 10">
            <a:extLst>
              <a:ext uri="{FF2B5EF4-FFF2-40B4-BE49-F238E27FC236}">
                <a16:creationId xmlns:a16="http://schemas.microsoft.com/office/drawing/2014/main" id="{D5841DAE-B3A3-0E4C-BAB2-21276AEA762F}"/>
              </a:ext>
            </a:extLst>
          </p:cNvPr>
          <p:cNvPicPr>
            <a:picLocks noChangeAspect="1"/>
          </p:cNvPicPr>
          <p:nvPr/>
        </p:nvPicPr>
        <p:blipFill>
          <a:blip r:embed="rId4"/>
          <a:stretch>
            <a:fillRect/>
          </a:stretch>
        </p:blipFill>
        <p:spPr>
          <a:xfrm>
            <a:off x="1604783" y="783671"/>
            <a:ext cx="3124200" cy="1988953"/>
          </a:xfrm>
          <a:prstGeom prst="rect">
            <a:avLst/>
          </a:prstGeom>
        </p:spPr>
      </p:pic>
      <p:pic>
        <p:nvPicPr>
          <p:cNvPr id="12" name="Imagen 11">
            <a:extLst>
              <a:ext uri="{FF2B5EF4-FFF2-40B4-BE49-F238E27FC236}">
                <a16:creationId xmlns:a16="http://schemas.microsoft.com/office/drawing/2014/main" id="{4A4696AF-4DBA-0205-FB1E-B36F9E5C77D5}"/>
              </a:ext>
            </a:extLst>
          </p:cNvPr>
          <p:cNvPicPr>
            <a:picLocks noChangeAspect="1"/>
          </p:cNvPicPr>
          <p:nvPr/>
        </p:nvPicPr>
        <p:blipFill>
          <a:blip r:embed="rId5"/>
          <a:stretch>
            <a:fillRect/>
          </a:stretch>
        </p:blipFill>
        <p:spPr>
          <a:xfrm>
            <a:off x="6663165" y="702432"/>
            <a:ext cx="3124200" cy="2086403"/>
          </a:xfrm>
          <a:prstGeom prst="rect">
            <a:avLst/>
          </a:prstGeom>
        </p:spPr>
      </p:pic>
      <p:sp>
        <p:nvSpPr>
          <p:cNvPr id="17" name="CuadroTexto 16">
            <a:extLst>
              <a:ext uri="{FF2B5EF4-FFF2-40B4-BE49-F238E27FC236}">
                <a16:creationId xmlns:a16="http://schemas.microsoft.com/office/drawing/2014/main" id="{6879D1C8-A8A1-BC5B-A79A-6C704E10DB45}"/>
              </a:ext>
            </a:extLst>
          </p:cNvPr>
          <p:cNvSpPr txBox="1"/>
          <p:nvPr/>
        </p:nvSpPr>
        <p:spPr>
          <a:xfrm>
            <a:off x="2100083" y="2339304"/>
            <a:ext cx="2133600" cy="369332"/>
          </a:xfrm>
          <a:prstGeom prst="rect">
            <a:avLst/>
          </a:prstGeom>
          <a:noFill/>
        </p:spPr>
        <p:txBody>
          <a:bodyPr wrap="square" rtlCol="0">
            <a:spAutoFit/>
          </a:bodyPr>
          <a:lstStyle/>
          <a:p>
            <a:pPr algn="ctr"/>
            <a:r>
              <a:rPr lang="es-ES" dirty="0"/>
              <a:t>Figura 2</a:t>
            </a:r>
          </a:p>
        </p:txBody>
      </p:sp>
      <p:sp>
        <p:nvSpPr>
          <p:cNvPr id="18" name="CuadroTexto 17">
            <a:extLst>
              <a:ext uri="{FF2B5EF4-FFF2-40B4-BE49-F238E27FC236}">
                <a16:creationId xmlns:a16="http://schemas.microsoft.com/office/drawing/2014/main" id="{E65AD51E-F510-C32A-ECB5-A5724652A058}"/>
              </a:ext>
            </a:extLst>
          </p:cNvPr>
          <p:cNvSpPr txBox="1"/>
          <p:nvPr/>
        </p:nvSpPr>
        <p:spPr>
          <a:xfrm>
            <a:off x="7086600" y="2339304"/>
            <a:ext cx="2133600" cy="369332"/>
          </a:xfrm>
          <a:prstGeom prst="rect">
            <a:avLst/>
          </a:prstGeom>
          <a:noFill/>
        </p:spPr>
        <p:txBody>
          <a:bodyPr wrap="square" rtlCol="0">
            <a:spAutoFit/>
          </a:bodyPr>
          <a:lstStyle/>
          <a:p>
            <a:pPr algn="ctr"/>
            <a:r>
              <a:rPr lang="es-ES" dirty="0"/>
              <a:t>Figura 3</a:t>
            </a:r>
          </a:p>
        </p:txBody>
      </p:sp>
    </p:spTree>
    <p:extLst>
      <p:ext uri="{BB962C8B-B14F-4D97-AF65-F5344CB8AC3E}">
        <p14:creationId xmlns:p14="http://schemas.microsoft.com/office/powerpoint/2010/main" val="757775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48B38F-D21A-7ACE-1AF8-969076268758}"/>
              </a:ext>
            </a:extLst>
          </p:cNvPr>
          <p:cNvSpPr>
            <a:spLocks noGrp="1"/>
          </p:cNvSpPr>
          <p:nvPr>
            <p:ph type="title"/>
          </p:nvPr>
        </p:nvSpPr>
        <p:spPr>
          <a:xfrm>
            <a:off x="590550" y="206752"/>
            <a:ext cx="10991850" cy="769441"/>
          </a:xfrm>
        </p:spPr>
        <p:txBody>
          <a:bodyPr/>
          <a:lstStyle/>
          <a:p>
            <a:r>
              <a:rPr lang="en-US" sz="2500" dirty="0"/>
              <a:t>Learning outcome #1 – Directional coupler cross-section in </a:t>
            </a:r>
            <a:r>
              <a:rPr lang="en-US" sz="2500" dirty="0" err="1"/>
              <a:t>GDSFactory</a:t>
            </a:r>
            <a:br>
              <a:rPr lang="es-ES" sz="2500" spc="-5" dirty="0">
                <a:latin typeface="+mj-lt"/>
                <a:cs typeface="Lucida Sans"/>
              </a:rPr>
            </a:br>
            <a:endParaRPr lang="es-ES" sz="2500" dirty="0"/>
          </a:p>
        </p:txBody>
      </p:sp>
      <p:sp>
        <p:nvSpPr>
          <p:cNvPr id="3" name="Marcador de texto 2">
            <a:extLst>
              <a:ext uri="{FF2B5EF4-FFF2-40B4-BE49-F238E27FC236}">
                <a16:creationId xmlns:a16="http://schemas.microsoft.com/office/drawing/2014/main" id="{94835174-4E70-D6B2-1898-9E118200C7CE}"/>
              </a:ext>
            </a:extLst>
          </p:cNvPr>
          <p:cNvSpPr>
            <a:spLocks noGrp="1"/>
          </p:cNvSpPr>
          <p:nvPr>
            <p:ph type="body" idx="1"/>
          </p:nvPr>
        </p:nvSpPr>
        <p:spPr>
          <a:xfrm>
            <a:off x="590550" y="1022866"/>
            <a:ext cx="10972800" cy="3600986"/>
          </a:xfrm>
        </p:spPr>
        <p:txBody>
          <a:bodyPr/>
          <a:lstStyle/>
          <a:p>
            <a:pPr algn="just"/>
            <a:r>
              <a:rPr lang="es-ES" sz="1300" dirty="0">
                <a:latin typeface="Arial" panose="020B0604020202020204" pitchFamily="34" charset="0"/>
                <a:cs typeface="Arial" panose="020B0604020202020204" pitchFamily="34" charset="0"/>
              </a:rPr>
              <a:t>Al igual que antes, podemos distinguir cual es el modo par e impar dependiendo de si el campo que se propaga por ambas guías está en fase o en oposición de la misma.</a:t>
            </a:r>
          </a:p>
          <a:p>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A continuación, la práctica nos pide el cálculo de L</a:t>
            </a:r>
            <a:r>
              <a:rPr lang="el-GR" sz="1300" b="0" i="0" dirty="0">
                <a:solidFill>
                  <a:schemeClr val="tx1"/>
                </a:solidFill>
                <a:effectLst/>
                <a:highlight>
                  <a:srgbClr val="FFFFFF"/>
                </a:highlight>
                <a:latin typeface="Arial" panose="020B0604020202020204" pitchFamily="34" charset="0"/>
                <a:cs typeface="Arial" panose="020B0604020202020204" pitchFamily="34" charset="0"/>
              </a:rPr>
              <a:t>π</a:t>
            </a:r>
            <a:r>
              <a:rPr lang="es-ES" sz="1300" dirty="0">
                <a:solidFill>
                  <a:schemeClr val="tx1"/>
                </a:solidFill>
                <a:highlight>
                  <a:srgbClr val="FFFFFF"/>
                </a:highlight>
                <a:latin typeface="Arial" panose="020B0604020202020204" pitchFamily="34" charset="0"/>
                <a:cs typeface="Arial" panose="020B0604020202020204" pitchFamily="34" charset="0"/>
              </a:rPr>
              <a:t>, este parámetro define la longitud necesaria para poder transferir toda la potencia óptica de una guía a otra. Obtendremos </a:t>
            </a:r>
            <a:r>
              <a:rPr lang="es-ES" sz="1300" dirty="0">
                <a:latin typeface="Arial" panose="020B0604020202020204" pitchFamily="34" charset="0"/>
                <a:cs typeface="Arial" panose="020B0604020202020204" pitchFamily="34" charset="0"/>
              </a:rPr>
              <a:t>L</a:t>
            </a:r>
            <a:r>
              <a:rPr lang="el-GR" sz="1300" b="0" i="0" dirty="0">
                <a:solidFill>
                  <a:schemeClr val="tx1"/>
                </a:solidFill>
                <a:effectLst/>
                <a:highlight>
                  <a:srgbClr val="FFFFFF"/>
                </a:highlight>
                <a:latin typeface="Arial" panose="020B0604020202020204" pitchFamily="34" charset="0"/>
                <a:cs typeface="Arial" panose="020B0604020202020204" pitchFamily="34" charset="0"/>
              </a:rPr>
              <a:t>π</a:t>
            </a:r>
            <a:r>
              <a:rPr lang="es-ES" sz="1300" b="0" i="0" dirty="0">
                <a:solidFill>
                  <a:schemeClr val="tx1"/>
                </a:solidFill>
                <a:effectLst/>
                <a:highlight>
                  <a:srgbClr val="FFFFFF"/>
                </a:highlight>
                <a:latin typeface="Arial" panose="020B0604020202020204" pitchFamily="34" charset="0"/>
                <a:cs typeface="Arial" panose="020B0604020202020204" pitchFamily="34" charset="0"/>
              </a:rPr>
              <a:t> para TE y TM aplicando la siguiente expresión:</a:t>
            </a:r>
          </a:p>
          <a:p>
            <a:endParaRPr lang="es-ES" sz="1300" dirty="0">
              <a:solidFill>
                <a:schemeClr val="tx1"/>
              </a:solidFill>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r>
              <a:rPr lang="es-ES" sz="1300" dirty="0">
                <a:latin typeface="Arial" panose="020B0604020202020204" pitchFamily="34" charset="0"/>
                <a:cs typeface="Arial" panose="020B0604020202020204" pitchFamily="34" charset="0"/>
              </a:rPr>
              <a:t>Los resultados obtenidos han sido:</a:t>
            </a:r>
          </a:p>
          <a:p>
            <a:endParaRPr lang="es-E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300" dirty="0" err="1">
                <a:latin typeface="Arial" panose="020B0604020202020204" pitchFamily="34" charset="0"/>
                <a:cs typeface="Arial" panose="020B0604020202020204" pitchFamily="34" charset="0"/>
              </a:rPr>
              <a:t>L_pi_TE</a:t>
            </a:r>
            <a:r>
              <a:rPr lang="es-ES" sz="1300" dirty="0">
                <a:latin typeface="Arial" panose="020B0604020202020204" pitchFamily="34" charset="0"/>
                <a:cs typeface="Arial" panose="020B0604020202020204" pitchFamily="34" charset="0"/>
              </a:rPr>
              <a:t> = 93.83767536698734 </a:t>
            </a:r>
            <a:r>
              <a:rPr lang="es-ES" sz="1300" dirty="0" err="1">
                <a:latin typeface="Arial" panose="020B0604020202020204" pitchFamily="34" charset="0"/>
                <a:cs typeface="Arial" panose="020B0604020202020204" pitchFamily="34" charset="0"/>
              </a:rPr>
              <a:t>um</a:t>
            </a:r>
            <a:endParaRPr lang="es-E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E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300" dirty="0" err="1">
                <a:latin typeface="Arial" panose="020B0604020202020204" pitchFamily="34" charset="0"/>
                <a:cs typeface="Arial" panose="020B0604020202020204" pitchFamily="34" charset="0"/>
              </a:rPr>
              <a:t>L_pi_TM</a:t>
            </a:r>
            <a:r>
              <a:rPr lang="es-ES" sz="1300" dirty="0">
                <a:latin typeface="Arial" panose="020B0604020202020204" pitchFamily="34" charset="0"/>
                <a:cs typeface="Arial" panose="020B0604020202020204" pitchFamily="34" charset="0"/>
              </a:rPr>
              <a:t> = 52.26022367744298 </a:t>
            </a:r>
            <a:r>
              <a:rPr lang="es-ES" sz="1300" dirty="0" err="1">
                <a:latin typeface="Arial" panose="020B0604020202020204" pitchFamily="34" charset="0"/>
                <a:cs typeface="Arial" panose="020B0604020202020204" pitchFamily="34" charset="0"/>
              </a:rPr>
              <a:t>um</a:t>
            </a:r>
            <a:endParaRPr lang="es-E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p:txBody>
      </p:sp>
      <p:sp>
        <p:nvSpPr>
          <p:cNvPr id="4" name="Marcador de pie de página 3">
            <a:extLst>
              <a:ext uri="{FF2B5EF4-FFF2-40B4-BE49-F238E27FC236}">
                <a16:creationId xmlns:a16="http://schemas.microsoft.com/office/drawing/2014/main" id="{AD29797F-7DE6-FA4B-CDA5-EDAFF6B8796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8D9F885D-2C71-A5BC-86A8-218B76161BB9}"/>
              </a:ext>
            </a:extLst>
          </p:cNvPr>
          <p:cNvSpPr>
            <a:spLocks noGrp="1"/>
          </p:cNvSpPr>
          <p:nvPr>
            <p:ph type="sldNum" sz="quarter" idx="7"/>
          </p:nvPr>
        </p:nvSpPr>
        <p:spPr/>
        <p:txBody>
          <a:bodyPr/>
          <a:lstStyle/>
          <a:p>
            <a:fld id="{B6F15528-21DE-4FAA-801E-634DDDAF4B2B}" type="slidenum">
              <a:rPr lang="es-ES" smtClean="0"/>
              <a:t>7</a:t>
            </a:fld>
            <a:endParaRPr lang="es-ES"/>
          </a:p>
        </p:txBody>
      </p:sp>
      <p:pic>
        <p:nvPicPr>
          <p:cNvPr id="7" name="Imagen 6">
            <a:extLst>
              <a:ext uri="{FF2B5EF4-FFF2-40B4-BE49-F238E27FC236}">
                <a16:creationId xmlns:a16="http://schemas.microsoft.com/office/drawing/2014/main" id="{1844D082-4CA8-1319-0B43-B2A359257F95}"/>
              </a:ext>
            </a:extLst>
          </p:cNvPr>
          <p:cNvPicPr>
            <a:picLocks noChangeAspect="1"/>
          </p:cNvPicPr>
          <p:nvPr/>
        </p:nvPicPr>
        <p:blipFill>
          <a:blip r:embed="rId2"/>
          <a:stretch>
            <a:fillRect/>
          </a:stretch>
        </p:blipFill>
        <p:spPr>
          <a:xfrm>
            <a:off x="4495800" y="2416789"/>
            <a:ext cx="2647950" cy="552450"/>
          </a:xfrm>
          <a:prstGeom prst="rect">
            <a:avLst/>
          </a:prstGeom>
        </p:spPr>
      </p:pic>
      <p:sp>
        <p:nvSpPr>
          <p:cNvPr id="9" name="CuadroTexto 8">
            <a:extLst>
              <a:ext uri="{FF2B5EF4-FFF2-40B4-BE49-F238E27FC236}">
                <a16:creationId xmlns:a16="http://schemas.microsoft.com/office/drawing/2014/main" id="{E7020736-E8FD-123C-3F04-D79F5092A03F}"/>
              </a:ext>
            </a:extLst>
          </p:cNvPr>
          <p:cNvSpPr txBox="1"/>
          <p:nvPr/>
        </p:nvSpPr>
        <p:spPr>
          <a:xfrm>
            <a:off x="5029200" y="2989117"/>
            <a:ext cx="1828800" cy="369332"/>
          </a:xfrm>
          <a:prstGeom prst="rect">
            <a:avLst/>
          </a:prstGeom>
          <a:noFill/>
        </p:spPr>
        <p:txBody>
          <a:bodyPr wrap="square" rtlCol="0">
            <a:spAutoFit/>
          </a:bodyPr>
          <a:lstStyle/>
          <a:p>
            <a:pPr algn="ctr"/>
            <a:r>
              <a:rPr lang="es-ES" dirty="0"/>
              <a:t>Figura 6</a:t>
            </a:r>
          </a:p>
        </p:txBody>
      </p:sp>
    </p:spTree>
    <p:extLst>
      <p:ext uri="{BB962C8B-B14F-4D97-AF65-F5344CB8AC3E}">
        <p14:creationId xmlns:p14="http://schemas.microsoft.com/office/powerpoint/2010/main" val="2845723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 – thickness 300 nm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5" name="Imagen 4">
            <a:extLst>
              <a:ext uri="{FF2B5EF4-FFF2-40B4-BE49-F238E27FC236}">
                <a16:creationId xmlns:a16="http://schemas.microsoft.com/office/drawing/2014/main" id="{03C17B78-332B-110F-B262-2BBE11F917B4}"/>
              </a:ext>
            </a:extLst>
          </p:cNvPr>
          <p:cNvPicPr>
            <a:picLocks noChangeAspect="1"/>
          </p:cNvPicPr>
          <p:nvPr/>
        </p:nvPicPr>
        <p:blipFill>
          <a:blip r:embed="rId6"/>
          <a:stretch>
            <a:fillRect/>
          </a:stretch>
        </p:blipFill>
        <p:spPr>
          <a:xfrm>
            <a:off x="4648200" y="1207583"/>
            <a:ext cx="5754348" cy="3264837"/>
          </a:xfrm>
          <a:prstGeom prst="rect">
            <a:avLst/>
          </a:prstGeom>
        </p:spPr>
      </p:pic>
      <p:sp>
        <p:nvSpPr>
          <p:cNvPr id="9" name="Marcador de texto 2">
            <a:extLst>
              <a:ext uri="{FF2B5EF4-FFF2-40B4-BE49-F238E27FC236}">
                <a16:creationId xmlns:a16="http://schemas.microsoft.com/office/drawing/2014/main" id="{D8D48F66-4613-06FD-20A3-83163EBDDDD4}"/>
              </a:ext>
            </a:extLst>
          </p:cNvPr>
          <p:cNvSpPr>
            <a:spLocks noGrp="1"/>
          </p:cNvSpPr>
          <p:nvPr>
            <p:ph type="body" idx="1"/>
          </p:nvPr>
        </p:nvSpPr>
        <p:spPr>
          <a:xfrm>
            <a:off x="838200" y="4985393"/>
            <a:ext cx="10972800" cy="1400383"/>
          </a:xfrm>
        </p:spPr>
        <p:txBody>
          <a:bodyPr/>
          <a:lstStyle/>
          <a:p>
            <a:pPr algn="just"/>
            <a:r>
              <a:rPr lang="es-ES" sz="1300" dirty="0">
                <a:latin typeface="Arial" panose="020B0604020202020204" pitchFamily="34" charset="0"/>
                <a:cs typeface="Arial" panose="020B0604020202020204" pitchFamily="34" charset="0"/>
              </a:rPr>
              <a:t>El intercambio de potencia entre guías de onda en un acoplador direccional viene dado por K (</a:t>
            </a:r>
            <a:r>
              <a:rPr lang="es-ES" sz="1300" b="1" dirty="0">
                <a:latin typeface="Arial" panose="020B0604020202020204" pitchFamily="34" charset="0"/>
                <a:cs typeface="Arial" panose="020B0604020202020204" pitchFamily="34" charset="0"/>
              </a:rPr>
              <a:t>Figura 7</a:t>
            </a:r>
            <a:r>
              <a:rPr lang="es-ES" sz="1300" dirty="0">
                <a:latin typeface="Arial" panose="020B0604020202020204" pitchFamily="34" charset="0"/>
                <a:cs typeface="Arial" panose="020B0604020202020204" pitchFamily="34" charset="0"/>
              </a:rPr>
              <a:t>), conocida como la constante de acoplamiento, cuando K = 1 se ha transferido toda la potencia.</a:t>
            </a:r>
          </a:p>
          <a:p>
            <a:pPr algn="just"/>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Si atendemos a la </a:t>
            </a:r>
            <a:r>
              <a:rPr lang="es-ES" sz="1300" b="1" dirty="0">
                <a:latin typeface="Arial" panose="020B0604020202020204" pitchFamily="34" charset="0"/>
                <a:cs typeface="Arial" panose="020B0604020202020204" pitchFamily="34" charset="0"/>
              </a:rPr>
              <a:t>Figura 8</a:t>
            </a:r>
            <a:r>
              <a:rPr lang="es-ES" sz="1300" dirty="0">
                <a:latin typeface="Arial" panose="020B0604020202020204" pitchFamily="34" charset="0"/>
                <a:cs typeface="Arial" panose="020B0604020202020204" pitchFamily="34" charset="0"/>
              </a:rPr>
              <a:t>, podemos ver que K = 1 cuando la distancia L/L</a:t>
            </a:r>
            <a:r>
              <a:rPr lang="el-GR" sz="1300" dirty="0">
                <a:latin typeface="Arial" panose="020B0604020202020204" pitchFamily="34" charset="0"/>
                <a:cs typeface="Arial" panose="020B0604020202020204" pitchFamily="34" charset="0"/>
              </a:rPr>
              <a:t>π </a:t>
            </a:r>
            <a:r>
              <a:rPr lang="es-ES" sz="1300" dirty="0">
                <a:latin typeface="Arial" panose="020B0604020202020204" pitchFamily="34" charset="0"/>
                <a:cs typeface="Arial" panose="020B0604020202020204" pitchFamily="34" charset="0"/>
              </a:rPr>
              <a:t>= 1</a:t>
            </a:r>
          </a:p>
          <a:p>
            <a:pPr algn="just"/>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Por otro lado, la potencia se divide a la mitad cuando L/L</a:t>
            </a:r>
            <a:r>
              <a:rPr lang="el-GR" sz="1300" b="0" i="0" dirty="0">
                <a:solidFill>
                  <a:schemeClr val="tx1"/>
                </a:solidFill>
                <a:effectLst/>
                <a:highlight>
                  <a:srgbClr val="FFFFFF"/>
                </a:highlight>
                <a:latin typeface="Arial" panose="020B0604020202020204" pitchFamily="34" charset="0"/>
                <a:cs typeface="Arial" panose="020B0604020202020204" pitchFamily="34" charset="0"/>
              </a:rPr>
              <a:t>π</a:t>
            </a:r>
            <a:r>
              <a:rPr lang="es-ES" sz="1300" b="0" i="0" dirty="0">
                <a:solidFill>
                  <a:schemeClr val="tx1"/>
                </a:solidFill>
                <a:effectLst/>
                <a:highlight>
                  <a:srgbClr val="FFFFFF"/>
                </a:highlight>
                <a:latin typeface="Arial" panose="020B0604020202020204" pitchFamily="34" charset="0"/>
                <a:cs typeface="Arial" panose="020B0604020202020204" pitchFamily="34" charset="0"/>
              </a:rPr>
              <a:t> = 0’5 </a:t>
            </a:r>
            <a:endParaRPr lang="es-ES" sz="1300"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p:txBody>
      </p:sp>
      <p:sp>
        <p:nvSpPr>
          <p:cNvPr id="10" name="CuadroTexto 9">
            <a:extLst>
              <a:ext uri="{FF2B5EF4-FFF2-40B4-BE49-F238E27FC236}">
                <a16:creationId xmlns:a16="http://schemas.microsoft.com/office/drawing/2014/main" id="{EAFAFDBF-4615-73B5-6C99-122F141A3237}"/>
              </a:ext>
            </a:extLst>
          </p:cNvPr>
          <p:cNvSpPr txBox="1"/>
          <p:nvPr/>
        </p:nvSpPr>
        <p:spPr>
          <a:xfrm>
            <a:off x="1323195" y="2668539"/>
            <a:ext cx="1676400" cy="369332"/>
          </a:xfrm>
          <a:prstGeom prst="rect">
            <a:avLst/>
          </a:prstGeom>
          <a:noFill/>
        </p:spPr>
        <p:txBody>
          <a:bodyPr wrap="square" rtlCol="0">
            <a:spAutoFit/>
          </a:bodyPr>
          <a:lstStyle/>
          <a:p>
            <a:pPr algn="ctr"/>
            <a:r>
              <a:rPr lang="es-ES" dirty="0"/>
              <a:t>Figura 7</a:t>
            </a:r>
          </a:p>
        </p:txBody>
      </p:sp>
      <p:sp>
        <p:nvSpPr>
          <p:cNvPr id="11" name="CuadroTexto 10">
            <a:extLst>
              <a:ext uri="{FF2B5EF4-FFF2-40B4-BE49-F238E27FC236}">
                <a16:creationId xmlns:a16="http://schemas.microsoft.com/office/drawing/2014/main" id="{C31F2B9D-D35E-AC10-615E-ED431FE0A7FC}"/>
              </a:ext>
            </a:extLst>
          </p:cNvPr>
          <p:cNvSpPr txBox="1"/>
          <p:nvPr/>
        </p:nvSpPr>
        <p:spPr>
          <a:xfrm>
            <a:off x="6934200" y="4499539"/>
            <a:ext cx="1676400" cy="369332"/>
          </a:xfrm>
          <a:prstGeom prst="rect">
            <a:avLst/>
          </a:prstGeom>
          <a:noFill/>
        </p:spPr>
        <p:txBody>
          <a:bodyPr wrap="square" rtlCol="0">
            <a:spAutoFit/>
          </a:bodyPr>
          <a:lstStyle/>
          <a:p>
            <a:pPr algn="ctr"/>
            <a:r>
              <a:rPr lang="es-ES" dirty="0"/>
              <a:t>Figura 8</a:t>
            </a:r>
          </a:p>
        </p:txBody>
      </p:sp>
    </p:spTree>
    <p:extLst>
      <p:ext uri="{BB962C8B-B14F-4D97-AF65-F5344CB8AC3E}">
        <p14:creationId xmlns:p14="http://schemas.microsoft.com/office/powerpoint/2010/main" val="3663624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5" name="Imagen 4">
            <a:extLst>
              <a:ext uri="{FF2B5EF4-FFF2-40B4-BE49-F238E27FC236}">
                <a16:creationId xmlns:a16="http://schemas.microsoft.com/office/drawing/2014/main" id="{76C5214B-CC3A-B5F6-0ABB-77ECB222216F}"/>
              </a:ext>
            </a:extLst>
          </p:cNvPr>
          <p:cNvPicPr>
            <a:picLocks noChangeAspect="1"/>
          </p:cNvPicPr>
          <p:nvPr/>
        </p:nvPicPr>
        <p:blipFill>
          <a:blip r:embed="rId5"/>
          <a:stretch>
            <a:fillRect/>
          </a:stretch>
        </p:blipFill>
        <p:spPr>
          <a:xfrm>
            <a:off x="593449" y="1409598"/>
            <a:ext cx="5495925" cy="1238250"/>
          </a:xfrm>
          <a:prstGeom prst="rect">
            <a:avLst/>
          </a:prstGeom>
        </p:spPr>
      </p:pic>
      <p:pic>
        <p:nvPicPr>
          <p:cNvPr id="9" name="Imagen 8">
            <a:extLst>
              <a:ext uri="{FF2B5EF4-FFF2-40B4-BE49-F238E27FC236}">
                <a16:creationId xmlns:a16="http://schemas.microsoft.com/office/drawing/2014/main" id="{6ADDA916-C942-532A-1C93-1DFE7D14220E}"/>
              </a:ext>
            </a:extLst>
          </p:cNvPr>
          <p:cNvPicPr>
            <a:picLocks noChangeAspect="1"/>
          </p:cNvPicPr>
          <p:nvPr/>
        </p:nvPicPr>
        <p:blipFill>
          <a:blip r:embed="rId6"/>
          <a:stretch>
            <a:fillRect/>
          </a:stretch>
        </p:blipFill>
        <p:spPr>
          <a:xfrm>
            <a:off x="7239000" y="1255062"/>
            <a:ext cx="3009900" cy="2305050"/>
          </a:xfrm>
          <a:prstGeom prst="rect">
            <a:avLst/>
          </a:prstGeom>
        </p:spPr>
      </p:pic>
      <p:sp>
        <p:nvSpPr>
          <p:cNvPr id="10" name="CuadroTexto 9">
            <a:extLst>
              <a:ext uri="{FF2B5EF4-FFF2-40B4-BE49-F238E27FC236}">
                <a16:creationId xmlns:a16="http://schemas.microsoft.com/office/drawing/2014/main" id="{DFA391B1-CF80-FB17-F1F9-68E687E2294E}"/>
              </a:ext>
            </a:extLst>
          </p:cNvPr>
          <p:cNvSpPr txBox="1"/>
          <p:nvPr/>
        </p:nvSpPr>
        <p:spPr>
          <a:xfrm>
            <a:off x="705678" y="3274806"/>
            <a:ext cx="6096000" cy="892552"/>
          </a:xfrm>
          <a:prstGeom prst="rect">
            <a:avLst/>
          </a:prstGeom>
          <a:noFill/>
        </p:spPr>
        <p:txBody>
          <a:bodyPr wrap="square" rtlCol="0">
            <a:spAutoFit/>
          </a:bodyPr>
          <a:lstStyle/>
          <a:p>
            <a:pPr algn="just"/>
            <a:r>
              <a:rPr lang="es-ES" sz="1300" dirty="0">
                <a:latin typeface="Arial" panose="020B0604020202020204" pitchFamily="34" charset="0"/>
                <a:cs typeface="Arial" panose="020B0604020202020204" pitchFamily="34" charset="0"/>
              </a:rPr>
              <a:t>Si atendemos a los parámetros de la </a:t>
            </a:r>
            <a:r>
              <a:rPr lang="es-ES" sz="1300" b="1" dirty="0">
                <a:latin typeface="Arial" panose="020B0604020202020204" pitchFamily="34" charset="0"/>
                <a:cs typeface="Arial" panose="020B0604020202020204" pitchFamily="34" charset="0"/>
              </a:rPr>
              <a:t>Figura 10 </a:t>
            </a:r>
            <a:r>
              <a:rPr lang="es-ES" sz="1300" dirty="0">
                <a:latin typeface="Arial" panose="020B0604020202020204" pitchFamily="34" charset="0"/>
                <a:cs typeface="Arial" panose="020B0604020202020204" pitchFamily="34" charset="0"/>
              </a:rPr>
              <a:t>vemos que hay uno que se llama “Ratio </a:t>
            </a:r>
            <a:r>
              <a:rPr lang="es-ES" sz="1300" dirty="0" err="1">
                <a:latin typeface="Arial" panose="020B0604020202020204" pitchFamily="34" charset="0"/>
                <a:cs typeface="Arial" panose="020B0604020202020204" pitchFamily="34" charset="0"/>
              </a:rPr>
              <a:t>over</a:t>
            </a:r>
            <a:r>
              <a:rPr lang="es-ES" sz="1300" dirty="0">
                <a:latin typeface="Arial" panose="020B0604020202020204" pitchFamily="34" charset="0"/>
                <a:cs typeface="Arial" panose="020B0604020202020204" pitchFamily="34" charset="0"/>
              </a:rPr>
              <a:t> </a:t>
            </a:r>
            <a:r>
              <a:rPr lang="es-ES" sz="1300" dirty="0" err="1">
                <a:latin typeface="Arial" panose="020B0604020202020204" pitchFamily="34" charset="0"/>
                <a:cs typeface="Arial" panose="020B0604020202020204" pitchFamily="34" charset="0"/>
              </a:rPr>
              <a:t>OUTs</a:t>
            </a:r>
            <a:r>
              <a:rPr lang="es-ES" sz="1300" dirty="0">
                <a:latin typeface="Arial" panose="020B0604020202020204" pitchFamily="34" charset="0"/>
                <a:cs typeface="Arial" panose="020B0604020202020204" pitchFamily="34" charset="0"/>
              </a:rPr>
              <a:t>” y que toma por valores [0’4999 , 0’5001], esto nos indica que la luz se divide a la mitad entre las 2 salidas, es decir, el acoplador está funcionando como un divisor de potencia (50:50).</a:t>
            </a:r>
            <a:endParaRPr lang="es-ES" sz="1300" b="1" dirty="0">
              <a:latin typeface="Arial" panose="020B0604020202020204" pitchFamily="34" charset="0"/>
              <a:cs typeface="Arial" panose="020B0604020202020204" pitchFamily="34" charset="0"/>
            </a:endParaRPr>
          </a:p>
        </p:txBody>
      </p:sp>
      <p:sp>
        <p:nvSpPr>
          <p:cNvPr id="11" name="CuadroTexto 10">
            <a:extLst>
              <a:ext uri="{FF2B5EF4-FFF2-40B4-BE49-F238E27FC236}">
                <a16:creationId xmlns:a16="http://schemas.microsoft.com/office/drawing/2014/main" id="{DF5E6667-D08E-E03E-2D4F-D1B89D5CAAA7}"/>
              </a:ext>
            </a:extLst>
          </p:cNvPr>
          <p:cNvSpPr txBox="1"/>
          <p:nvPr/>
        </p:nvSpPr>
        <p:spPr>
          <a:xfrm>
            <a:off x="2447442" y="2610879"/>
            <a:ext cx="2454206" cy="369332"/>
          </a:xfrm>
          <a:prstGeom prst="rect">
            <a:avLst/>
          </a:prstGeom>
          <a:noFill/>
        </p:spPr>
        <p:txBody>
          <a:bodyPr wrap="square" rtlCol="0">
            <a:spAutoFit/>
          </a:bodyPr>
          <a:lstStyle/>
          <a:p>
            <a:pPr algn="ctr"/>
            <a:r>
              <a:rPr lang="es-ES" dirty="0"/>
              <a:t>Figura 9</a:t>
            </a:r>
          </a:p>
        </p:txBody>
      </p:sp>
      <p:sp>
        <p:nvSpPr>
          <p:cNvPr id="12" name="CuadroTexto 11">
            <a:extLst>
              <a:ext uri="{FF2B5EF4-FFF2-40B4-BE49-F238E27FC236}">
                <a16:creationId xmlns:a16="http://schemas.microsoft.com/office/drawing/2014/main" id="{EDED0324-5462-E9B9-5EC8-1E60EBC96C99}"/>
              </a:ext>
            </a:extLst>
          </p:cNvPr>
          <p:cNvSpPr txBox="1"/>
          <p:nvPr/>
        </p:nvSpPr>
        <p:spPr>
          <a:xfrm>
            <a:off x="7516847" y="3692723"/>
            <a:ext cx="2454206" cy="369332"/>
          </a:xfrm>
          <a:prstGeom prst="rect">
            <a:avLst/>
          </a:prstGeom>
          <a:noFill/>
        </p:spPr>
        <p:txBody>
          <a:bodyPr wrap="square" rtlCol="0">
            <a:spAutoFit/>
          </a:bodyPr>
          <a:lstStyle/>
          <a:p>
            <a:pPr algn="ctr"/>
            <a:r>
              <a:rPr lang="es-ES" dirty="0"/>
              <a:t>Figura 10</a:t>
            </a:r>
          </a:p>
        </p:txBody>
      </p:sp>
      <p:sp>
        <p:nvSpPr>
          <p:cNvPr id="13" name="CuadroTexto 12">
            <a:extLst>
              <a:ext uri="{FF2B5EF4-FFF2-40B4-BE49-F238E27FC236}">
                <a16:creationId xmlns:a16="http://schemas.microsoft.com/office/drawing/2014/main" id="{7813A974-0716-1FC6-C0B4-8F56E7F555B6}"/>
              </a:ext>
            </a:extLst>
          </p:cNvPr>
          <p:cNvSpPr txBox="1"/>
          <p:nvPr/>
        </p:nvSpPr>
        <p:spPr>
          <a:xfrm>
            <a:off x="705677" y="4596411"/>
            <a:ext cx="10748903" cy="692497"/>
          </a:xfrm>
          <a:prstGeom prst="rect">
            <a:avLst/>
          </a:prstGeom>
          <a:noFill/>
        </p:spPr>
        <p:txBody>
          <a:bodyPr wrap="square" rtlCol="0">
            <a:spAutoFit/>
          </a:bodyPr>
          <a:lstStyle/>
          <a:p>
            <a:pPr algn="just"/>
            <a:r>
              <a:rPr lang="es-ES" sz="1300" dirty="0">
                <a:latin typeface="Arial" panose="020B0604020202020204" pitchFamily="34" charset="0"/>
                <a:cs typeface="Arial" panose="020B0604020202020204" pitchFamily="34" charset="0"/>
              </a:rPr>
              <a:t>Las pérdidas de exceso vienen representadas en lineal y en </a:t>
            </a:r>
            <a:r>
              <a:rPr lang="es-ES" sz="1300" dirty="0" err="1">
                <a:latin typeface="Arial" panose="020B0604020202020204" pitchFamily="34" charset="0"/>
                <a:cs typeface="Arial" panose="020B0604020202020204" pitchFamily="34" charset="0"/>
              </a:rPr>
              <a:t>dBs</a:t>
            </a:r>
            <a:r>
              <a:rPr lang="es-ES" sz="1300" dirty="0">
                <a:latin typeface="Arial" panose="020B0604020202020204" pitchFamily="34" charset="0"/>
                <a:cs typeface="Arial" panose="020B0604020202020204" pitchFamily="34" charset="0"/>
              </a:rPr>
              <a:t>, en los parámetros se nos indica que la potencia total de salida es de un 96’44% (un 48’21% por un puerto y un 48’23% por el otro), por tanto, tenemos que un 3’56% de la energía se pierde. Si pasamos las pérdidas de escala lineal a logarítmica obtenemos un valor de 0’1574db</a:t>
            </a:r>
          </a:p>
        </p:txBody>
      </p:sp>
    </p:spTree>
    <p:extLst>
      <p:ext uri="{BB962C8B-B14F-4D97-AF65-F5344CB8AC3E}">
        <p14:creationId xmlns:p14="http://schemas.microsoft.com/office/powerpoint/2010/main" val="1558326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8E3B84-E25C-8E82-4FFC-82225AB917F6}"/>
              </a:ext>
            </a:extLst>
          </p:cNvPr>
          <p:cNvSpPr>
            <a:spLocks noGrp="1"/>
          </p:cNvSpPr>
          <p:nvPr>
            <p:ph type="title"/>
          </p:nvPr>
        </p:nvSpPr>
        <p:spPr>
          <a:xfrm>
            <a:off x="590550" y="206752"/>
            <a:ext cx="10991850" cy="692497"/>
          </a:xfrm>
        </p:spPr>
        <p:txBody>
          <a:bodyPr/>
          <a:lstStyle/>
          <a:p>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s-ES" dirty="0"/>
          </a:p>
        </p:txBody>
      </p:sp>
      <p:sp>
        <p:nvSpPr>
          <p:cNvPr id="3" name="Marcador de texto 2">
            <a:extLst>
              <a:ext uri="{FF2B5EF4-FFF2-40B4-BE49-F238E27FC236}">
                <a16:creationId xmlns:a16="http://schemas.microsoft.com/office/drawing/2014/main" id="{23F900F2-D906-F919-2270-5D1DD5E7F5FD}"/>
              </a:ext>
            </a:extLst>
          </p:cNvPr>
          <p:cNvSpPr>
            <a:spLocks noGrp="1"/>
          </p:cNvSpPr>
          <p:nvPr>
            <p:ph type="body" idx="1"/>
          </p:nvPr>
        </p:nvSpPr>
        <p:spPr>
          <a:xfrm>
            <a:off x="609600" y="1143000"/>
            <a:ext cx="10972800" cy="1800493"/>
          </a:xfrm>
        </p:spPr>
        <p:txBody>
          <a:bodyPr/>
          <a:lstStyle/>
          <a:p>
            <a:r>
              <a:rPr lang="es-ES" sz="1300" dirty="0">
                <a:latin typeface="Arial" panose="020B0604020202020204" pitchFamily="34" charset="0"/>
                <a:cs typeface="Arial" panose="020B0604020202020204" pitchFamily="34" charset="0"/>
              </a:rPr>
              <a:t>Si observamos la </a:t>
            </a:r>
            <a:r>
              <a:rPr lang="es-ES" sz="1300" b="1" dirty="0">
                <a:latin typeface="Arial" panose="020B0604020202020204" pitchFamily="34" charset="0"/>
                <a:cs typeface="Arial" panose="020B0604020202020204" pitchFamily="34" charset="0"/>
              </a:rPr>
              <a:t>Figura</a:t>
            </a:r>
            <a:r>
              <a:rPr lang="es-ES" sz="1300" dirty="0">
                <a:latin typeface="Arial" panose="020B0604020202020204" pitchFamily="34" charset="0"/>
                <a:cs typeface="Arial" panose="020B0604020202020204" pitchFamily="34" charset="0"/>
              </a:rPr>
              <a:t> </a:t>
            </a:r>
            <a:r>
              <a:rPr lang="es-ES" sz="1300" b="1" dirty="0">
                <a:latin typeface="Arial" panose="020B0604020202020204" pitchFamily="34" charset="0"/>
                <a:cs typeface="Arial" panose="020B0604020202020204" pitchFamily="34" charset="0"/>
              </a:rPr>
              <a:t>11,</a:t>
            </a:r>
            <a:r>
              <a:rPr lang="es-ES" sz="1300" dirty="0">
                <a:latin typeface="Arial" panose="020B0604020202020204" pitchFamily="34" charset="0"/>
                <a:cs typeface="Arial" panose="020B0604020202020204" pitchFamily="34" charset="0"/>
              </a:rPr>
              <a:t> con claridad se aprecia que el aumento de L</a:t>
            </a:r>
            <a:r>
              <a:rPr lang="el-GR" sz="1300" b="0" i="0" dirty="0">
                <a:solidFill>
                  <a:schemeClr val="tx1"/>
                </a:solidFill>
                <a:effectLst/>
                <a:highlight>
                  <a:srgbClr val="FFFFFF"/>
                </a:highlight>
                <a:latin typeface="Arial" panose="020B0604020202020204" pitchFamily="34" charset="0"/>
                <a:cs typeface="Arial" panose="020B0604020202020204" pitchFamily="34" charset="0"/>
              </a:rPr>
              <a:t>π</a:t>
            </a:r>
            <a:r>
              <a:rPr lang="es-ES" sz="1300" b="0" i="0" dirty="0">
                <a:solidFill>
                  <a:schemeClr val="tx1"/>
                </a:solidFill>
                <a:effectLst/>
                <a:highlight>
                  <a:srgbClr val="FFFFFF"/>
                </a:highlight>
                <a:latin typeface="Arial" panose="020B0604020202020204" pitchFamily="34" charset="0"/>
                <a:cs typeface="Arial" panose="020B0604020202020204" pitchFamily="34" charset="0"/>
              </a:rPr>
              <a:t> está ligado al aumento del gap </a:t>
            </a:r>
          </a:p>
          <a:p>
            <a:endParaRPr lang="es-ES" sz="1300" b="0" i="0" dirty="0">
              <a:solidFill>
                <a:schemeClr val="tx1"/>
              </a:solidFill>
              <a:effectLst/>
              <a:highlight>
                <a:srgbClr val="FFFFFF"/>
              </a:highlight>
              <a:latin typeface="Arial" panose="020B0604020202020204" pitchFamily="34" charset="0"/>
              <a:cs typeface="Arial" panose="020B0604020202020204" pitchFamily="34" charset="0"/>
            </a:endParaRPr>
          </a:p>
          <a:p>
            <a:r>
              <a:rPr lang="es-ES" sz="1300" b="1" i="0" dirty="0">
                <a:solidFill>
                  <a:schemeClr val="tx1"/>
                </a:solidFill>
                <a:effectLst/>
                <a:highlight>
                  <a:srgbClr val="FFFFFF"/>
                </a:highlight>
                <a:latin typeface="Arial" panose="020B0604020202020204" pitchFamily="34" charset="0"/>
                <a:cs typeface="Arial" panose="020B0604020202020204" pitchFamily="34" charset="0"/>
              </a:rPr>
              <a:t>¿Por qué ocurre </a:t>
            </a:r>
            <a:r>
              <a:rPr lang="es-ES" sz="1300" b="1" dirty="0">
                <a:solidFill>
                  <a:schemeClr val="tx1"/>
                </a:solidFill>
                <a:highlight>
                  <a:srgbClr val="FFFFFF"/>
                </a:highlight>
                <a:latin typeface="Arial" panose="020B0604020202020204" pitchFamily="34" charset="0"/>
                <a:cs typeface="Arial" panose="020B0604020202020204" pitchFamily="34" charset="0"/>
              </a:rPr>
              <a:t>e</a:t>
            </a:r>
            <a:r>
              <a:rPr lang="es-ES" sz="1300" b="1" i="0" dirty="0">
                <a:solidFill>
                  <a:schemeClr val="tx1"/>
                </a:solidFill>
                <a:effectLst/>
                <a:highlight>
                  <a:srgbClr val="FFFFFF"/>
                </a:highlight>
                <a:latin typeface="Arial" panose="020B0604020202020204" pitchFamily="34" charset="0"/>
                <a:cs typeface="Arial" panose="020B0604020202020204" pitchFamily="34" charset="0"/>
              </a:rPr>
              <a:t>sto? </a:t>
            </a:r>
          </a:p>
          <a:p>
            <a:endParaRPr lang="es-ES" sz="1300" b="1" i="0" dirty="0">
              <a:solidFill>
                <a:schemeClr val="tx1"/>
              </a:solidFill>
              <a:effectLst/>
              <a:highlight>
                <a:srgbClr val="FFFFFF"/>
              </a:highlight>
              <a:latin typeface="Arial" panose="020B0604020202020204" pitchFamily="34" charset="0"/>
              <a:cs typeface="Arial" panose="020B0604020202020204" pitchFamily="34" charset="0"/>
            </a:endParaRPr>
          </a:p>
          <a:p>
            <a:r>
              <a:rPr lang="es-ES" sz="1300" dirty="0">
                <a:solidFill>
                  <a:schemeClr val="tx1"/>
                </a:solidFill>
                <a:highlight>
                  <a:srgbClr val="FFFFFF"/>
                </a:highlight>
                <a:latin typeface="Arial" panose="020B0604020202020204" pitchFamily="34" charset="0"/>
                <a:cs typeface="Arial" panose="020B0604020202020204" pitchFamily="34" charset="0"/>
              </a:rPr>
              <a:t>Si el gap es pequeño las guías están muy cerca, los campos se solapan mucho y ,por ello, la transmisión de la luz es un proceso rápido. Debido a esto la </a:t>
            </a:r>
            <a:r>
              <a:rPr lang="es-ES" sz="1300" dirty="0">
                <a:latin typeface="Arial" panose="020B0604020202020204" pitchFamily="34" charset="0"/>
                <a:cs typeface="Arial" panose="020B0604020202020204" pitchFamily="34" charset="0"/>
              </a:rPr>
              <a:t>L</a:t>
            </a:r>
            <a:r>
              <a:rPr lang="el-GR" sz="1300" b="0" i="0" dirty="0">
                <a:solidFill>
                  <a:schemeClr val="tx1"/>
                </a:solidFill>
                <a:effectLst/>
                <a:highlight>
                  <a:srgbClr val="FFFFFF"/>
                </a:highlight>
                <a:latin typeface="Arial" panose="020B0604020202020204" pitchFamily="34" charset="0"/>
                <a:cs typeface="Arial" panose="020B0604020202020204" pitchFamily="34" charset="0"/>
              </a:rPr>
              <a:t>π</a:t>
            </a:r>
            <a:r>
              <a:rPr lang="es-ES" sz="1300" b="0" i="0" dirty="0">
                <a:solidFill>
                  <a:schemeClr val="tx1"/>
                </a:solidFill>
                <a:effectLst/>
                <a:highlight>
                  <a:srgbClr val="FFFFFF"/>
                </a:highlight>
                <a:latin typeface="Arial" panose="020B0604020202020204" pitchFamily="34" charset="0"/>
                <a:cs typeface="Arial" panose="020B0604020202020204" pitchFamily="34" charset="0"/>
              </a:rPr>
              <a:t> es corta.</a:t>
            </a:r>
          </a:p>
          <a:p>
            <a:r>
              <a:rPr lang="es-ES" sz="1300" b="0" i="0" dirty="0">
                <a:solidFill>
                  <a:schemeClr val="tx1"/>
                </a:solidFill>
                <a:effectLst/>
                <a:highlight>
                  <a:srgbClr val="FFFFFF"/>
                </a:highlight>
                <a:latin typeface="Arial" panose="020B0604020202020204" pitchFamily="34" charset="0"/>
                <a:cs typeface="Arial" panose="020B0604020202020204" pitchFamily="34" charset="0"/>
              </a:rPr>
              <a:t> </a:t>
            </a:r>
          </a:p>
          <a:p>
            <a:r>
              <a:rPr lang="es-ES" sz="1300" dirty="0">
                <a:latin typeface="Arial" panose="020B0604020202020204" pitchFamily="34" charset="0"/>
                <a:cs typeface="Arial" panose="020B0604020202020204" pitchFamily="34" charset="0"/>
              </a:rPr>
              <a:t>Por otro lado, si el gap es grande las guías estarán más distanciadas, por ello la transmisión será un proceso más costoso. Debido a esto se necesita una L</a:t>
            </a:r>
            <a:r>
              <a:rPr lang="el-GR" sz="1300" b="0" i="0" dirty="0">
                <a:solidFill>
                  <a:schemeClr val="tx1"/>
                </a:solidFill>
                <a:effectLst/>
                <a:highlight>
                  <a:srgbClr val="FFFFFF"/>
                </a:highlight>
                <a:latin typeface="Arial" panose="020B0604020202020204" pitchFamily="34" charset="0"/>
                <a:cs typeface="Arial" panose="020B0604020202020204" pitchFamily="34" charset="0"/>
              </a:rPr>
              <a:t>π</a:t>
            </a:r>
            <a:r>
              <a:rPr lang="es-ES" sz="1300" b="0" i="0" dirty="0">
                <a:solidFill>
                  <a:schemeClr val="tx1"/>
                </a:solidFill>
                <a:effectLst/>
                <a:highlight>
                  <a:srgbClr val="FFFFFF"/>
                </a:highlight>
                <a:latin typeface="Arial" panose="020B0604020202020204" pitchFamily="34" charset="0"/>
                <a:cs typeface="Arial" panose="020B0604020202020204" pitchFamily="34" charset="0"/>
              </a:rPr>
              <a:t> mayor. </a:t>
            </a:r>
            <a:endParaRPr lang="es-ES" sz="1300" dirty="0">
              <a:latin typeface="Arial" panose="020B0604020202020204" pitchFamily="34" charset="0"/>
              <a:cs typeface="Arial" panose="020B0604020202020204" pitchFamily="34" charset="0"/>
            </a:endParaRPr>
          </a:p>
        </p:txBody>
      </p:sp>
      <p:sp>
        <p:nvSpPr>
          <p:cNvPr id="4" name="Marcador de pie de página 3">
            <a:extLst>
              <a:ext uri="{FF2B5EF4-FFF2-40B4-BE49-F238E27FC236}">
                <a16:creationId xmlns:a16="http://schemas.microsoft.com/office/drawing/2014/main" id="{99191CA7-2E5C-9C43-6133-C88C403A20A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62BD0441-53BA-4788-7474-654513772C59}"/>
              </a:ext>
            </a:extLst>
          </p:cNvPr>
          <p:cNvSpPr>
            <a:spLocks noGrp="1"/>
          </p:cNvSpPr>
          <p:nvPr>
            <p:ph type="sldNum" sz="quarter" idx="7"/>
          </p:nvPr>
        </p:nvSpPr>
        <p:spPr/>
        <p:txBody>
          <a:bodyPr/>
          <a:lstStyle/>
          <a:p>
            <a:fld id="{B6F15528-21DE-4FAA-801E-634DDDAF4B2B}" type="slidenum">
              <a:rPr lang="es-ES" smtClean="0"/>
              <a:t>10</a:t>
            </a:fld>
            <a:endParaRPr lang="es-ES"/>
          </a:p>
        </p:txBody>
      </p:sp>
      <p:pic>
        <p:nvPicPr>
          <p:cNvPr id="7" name="Imagen 6">
            <a:extLst>
              <a:ext uri="{FF2B5EF4-FFF2-40B4-BE49-F238E27FC236}">
                <a16:creationId xmlns:a16="http://schemas.microsoft.com/office/drawing/2014/main" id="{7183DA52-561D-7B95-7BE4-D68D7F2D45D6}"/>
              </a:ext>
            </a:extLst>
          </p:cNvPr>
          <p:cNvPicPr>
            <a:picLocks noChangeAspect="1"/>
          </p:cNvPicPr>
          <p:nvPr/>
        </p:nvPicPr>
        <p:blipFill>
          <a:blip r:embed="rId2"/>
          <a:stretch>
            <a:fillRect/>
          </a:stretch>
        </p:blipFill>
        <p:spPr>
          <a:xfrm>
            <a:off x="6400800" y="2923615"/>
            <a:ext cx="4602646" cy="3344245"/>
          </a:xfrm>
          <a:prstGeom prst="rect">
            <a:avLst/>
          </a:prstGeom>
        </p:spPr>
      </p:pic>
      <p:sp>
        <p:nvSpPr>
          <p:cNvPr id="8" name="CuadroTexto 7">
            <a:extLst>
              <a:ext uri="{FF2B5EF4-FFF2-40B4-BE49-F238E27FC236}">
                <a16:creationId xmlns:a16="http://schemas.microsoft.com/office/drawing/2014/main" id="{6FA3F7EF-EFB6-A481-AE71-63317F71DD4E}"/>
              </a:ext>
            </a:extLst>
          </p:cNvPr>
          <p:cNvSpPr txBox="1"/>
          <p:nvPr/>
        </p:nvSpPr>
        <p:spPr>
          <a:xfrm>
            <a:off x="7924800" y="6284757"/>
            <a:ext cx="2514600" cy="369332"/>
          </a:xfrm>
          <a:prstGeom prst="rect">
            <a:avLst/>
          </a:prstGeom>
          <a:noFill/>
        </p:spPr>
        <p:txBody>
          <a:bodyPr wrap="square" rtlCol="0">
            <a:spAutoFit/>
          </a:bodyPr>
          <a:lstStyle/>
          <a:p>
            <a:pPr algn="ctr"/>
            <a:r>
              <a:rPr lang="es-ES" dirty="0"/>
              <a:t>Figura 11</a:t>
            </a:r>
          </a:p>
        </p:txBody>
      </p:sp>
    </p:spTree>
    <p:extLst>
      <p:ext uri="{BB962C8B-B14F-4D97-AF65-F5344CB8AC3E}">
        <p14:creationId xmlns:p14="http://schemas.microsoft.com/office/powerpoint/2010/main" val="775658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 – TE0 mode</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US" b="1" dirty="0"/>
                  <a:t>shallow</a:t>
                </a:r>
                <a:r>
                  <a:rPr lang="en-US" dirty="0"/>
                  <a:t> waveguide</a:t>
                </a:r>
              </a:p>
              <a:p>
                <a:pPr algn="ctr"/>
                <a:r>
                  <a:rPr lang="en-US" dirty="0" err="1"/>
                  <a:t>slab_thickness</a:t>
                </a:r>
                <a:r>
                  <a:rPr lang="en-US" dirty="0"/>
                  <a:t> = 150 nm</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6"/>
                <a:stretch>
                  <a:fillRect t="-2479" b="-5785"/>
                </a:stretch>
              </a:blipFill>
            </p:spPr>
            <p:txBody>
              <a:bodyPr/>
              <a:lstStyle/>
              <a:p>
                <a:r>
                  <a:rPr lang="es-ES">
                    <a:noFill/>
                  </a:rPr>
                  <a:t> </a:t>
                </a:r>
              </a:p>
            </p:txBody>
          </p:sp>
        </mc:Fallback>
      </mc:AlternateContent>
      <p:pic>
        <p:nvPicPr>
          <p:cNvPr id="7" name="Imagen 6">
            <a:extLst>
              <a:ext uri="{FF2B5EF4-FFF2-40B4-BE49-F238E27FC236}">
                <a16:creationId xmlns:a16="http://schemas.microsoft.com/office/drawing/2014/main" id="{45D58CC4-9043-B3B9-8407-E2A591702443}"/>
              </a:ext>
            </a:extLst>
          </p:cNvPr>
          <p:cNvPicPr>
            <a:picLocks noChangeAspect="1"/>
          </p:cNvPicPr>
          <p:nvPr/>
        </p:nvPicPr>
        <p:blipFill>
          <a:blip r:embed="rId7"/>
          <a:stretch>
            <a:fillRect/>
          </a:stretch>
        </p:blipFill>
        <p:spPr>
          <a:xfrm>
            <a:off x="1066703" y="1216840"/>
            <a:ext cx="4352925" cy="3038475"/>
          </a:xfrm>
          <a:prstGeom prst="rect">
            <a:avLst/>
          </a:prstGeom>
        </p:spPr>
      </p:pic>
      <p:pic>
        <p:nvPicPr>
          <p:cNvPr id="11" name="Imagen 10">
            <a:extLst>
              <a:ext uri="{FF2B5EF4-FFF2-40B4-BE49-F238E27FC236}">
                <a16:creationId xmlns:a16="http://schemas.microsoft.com/office/drawing/2014/main" id="{89D3341D-639E-4F53-2E0A-E5C21893B58C}"/>
              </a:ext>
            </a:extLst>
          </p:cNvPr>
          <p:cNvPicPr>
            <a:picLocks noChangeAspect="1"/>
          </p:cNvPicPr>
          <p:nvPr/>
        </p:nvPicPr>
        <p:blipFill>
          <a:blip r:embed="rId8"/>
          <a:stretch>
            <a:fillRect/>
          </a:stretch>
        </p:blipFill>
        <p:spPr>
          <a:xfrm>
            <a:off x="6527865" y="1215116"/>
            <a:ext cx="4343400" cy="3000375"/>
          </a:xfrm>
          <a:prstGeom prst="rect">
            <a:avLst/>
          </a:prstGeom>
        </p:spPr>
      </p:pic>
      <p:sp>
        <p:nvSpPr>
          <p:cNvPr id="12" name="CuadroTexto 11">
            <a:extLst>
              <a:ext uri="{FF2B5EF4-FFF2-40B4-BE49-F238E27FC236}">
                <a16:creationId xmlns:a16="http://schemas.microsoft.com/office/drawing/2014/main" id="{BF31485A-FAD6-FB45-63C6-947D6FCA8446}"/>
              </a:ext>
            </a:extLst>
          </p:cNvPr>
          <p:cNvSpPr txBox="1"/>
          <p:nvPr/>
        </p:nvSpPr>
        <p:spPr>
          <a:xfrm>
            <a:off x="583734" y="4627272"/>
            <a:ext cx="11198542" cy="164660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establece</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como</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criterio</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de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aislamiento</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un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coeficiente</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de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acoplamiento</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k &lt; 0’01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en</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una</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distancia</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de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propagación</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de 10 mm.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Conocemos</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que K = sen^2 (</a:t>
            </a:r>
            <a:r>
              <a:rPr kumimoji="0" lang="el-GR" sz="13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π</a:t>
            </a:r>
            <a:r>
              <a:rPr kumimoji="0" lang="es-ES" sz="13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·L / 2·L</a:t>
            </a:r>
            <a:r>
              <a:rPr kumimoji="0" lang="el-GR" sz="105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π</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luego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si</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despejamos</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obtenemos</a:t>
            </a:r>
            <a:r>
              <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que </a:t>
            </a:r>
            <a:r>
              <a:rPr kumimoji="0" lang="es-ES" sz="13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L</a:t>
            </a:r>
            <a:r>
              <a:rPr kumimoji="0" lang="el-GR" sz="105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π</a:t>
            </a:r>
            <a:r>
              <a:rPr kumimoji="0" lang="es-ES" sz="105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 </a:t>
            </a:r>
            <a:r>
              <a:rPr kumimoji="0" lang="es-ES" sz="13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 156’82 </a:t>
            </a:r>
            <a:r>
              <a:rPr kumimoji="0" lang="es-ES" sz="1300" b="0" i="0" u="none" strike="noStrike" kern="1200" cap="none" spc="0" normalizeH="0" baseline="0" noProof="0" dirty="0" err="1">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mm.</a:t>
            </a:r>
            <a:endParaRPr kumimoji="0" lang="es-ES" sz="13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Si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nos</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fijamos</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en</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ambas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gráficas</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podemos</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observar</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como</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el</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valor de K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desciende</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de forma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exponencial</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medida</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que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incrementamos</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el</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gap. El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criterio</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de K &lt; 0’01 se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cumple</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con un gap &gt;= 4’84 um para la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guía</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deep,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mientras</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que para la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guía</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shallow se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cumple</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con un gap &gt;= 5’05 um.</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Debido a la expansión del campo eléctrico en las guías </a:t>
            </a:r>
            <a:r>
              <a:rPr kumimoji="0" lang="es-ES" sz="13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shallow</a:t>
            </a:r>
            <a:r>
              <a:rPr kumimoji="0" lang="es-E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se requiere un incremento del </a:t>
            </a:r>
            <a:r>
              <a:rPr kumimoji="0" lang="es-ES" sz="13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gap</a:t>
            </a:r>
            <a:r>
              <a:rPr kumimoji="0" lang="es-E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para mitigar la tendencia natural a transferir energía a la guía vecina.</a:t>
            </a:r>
            <a:endParaRPr kumimoji="0" lang="en-U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CuadroTexto 12">
            <a:extLst>
              <a:ext uri="{FF2B5EF4-FFF2-40B4-BE49-F238E27FC236}">
                <a16:creationId xmlns:a16="http://schemas.microsoft.com/office/drawing/2014/main" id="{E4E8CCE4-9CDF-FA22-E5A1-DB982265AEAA}"/>
              </a:ext>
            </a:extLst>
          </p:cNvPr>
          <p:cNvSpPr txBox="1"/>
          <p:nvPr/>
        </p:nvSpPr>
        <p:spPr>
          <a:xfrm>
            <a:off x="2095420" y="4184939"/>
            <a:ext cx="2514600" cy="369332"/>
          </a:xfrm>
          <a:prstGeom prst="rect">
            <a:avLst/>
          </a:prstGeom>
          <a:noFill/>
        </p:spPr>
        <p:txBody>
          <a:bodyPr wrap="square" rtlCol="0">
            <a:spAutoFit/>
          </a:bodyPr>
          <a:lstStyle/>
          <a:p>
            <a:pPr algn="ctr"/>
            <a:r>
              <a:rPr lang="es-ES" dirty="0"/>
              <a:t>Figura 12</a:t>
            </a:r>
          </a:p>
        </p:txBody>
      </p:sp>
      <p:sp>
        <p:nvSpPr>
          <p:cNvPr id="14" name="CuadroTexto 13">
            <a:extLst>
              <a:ext uri="{FF2B5EF4-FFF2-40B4-BE49-F238E27FC236}">
                <a16:creationId xmlns:a16="http://schemas.microsoft.com/office/drawing/2014/main" id="{170B1B8A-6FF1-6665-A989-22242BDB8B71}"/>
              </a:ext>
            </a:extLst>
          </p:cNvPr>
          <p:cNvSpPr txBox="1"/>
          <p:nvPr/>
        </p:nvSpPr>
        <p:spPr>
          <a:xfrm>
            <a:off x="7899383" y="4184939"/>
            <a:ext cx="2514600" cy="369332"/>
          </a:xfrm>
          <a:prstGeom prst="rect">
            <a:avLst/>
          </a:prstGeom>
          <a:noFill/>
        </p:spPr>
        <p:txBody>
          <a:bodyPr wrap="square" rtlCol="0">
            <a:spAutoFit/>
          </a:bodyPr>
          <a:lstStyle/>
          <a:p>
            <a:pPr algn="ctr"/>
            <a:r>
              <a:rPr lang="es-ES" dirty="0"/>
              <a:t>Figura 13</a:t>
            </a:r>
          </a:p>
        </p:txBody>
      </p:sp>
    </p:spTree>
    <p:extLst>
      <p:ext uri="{BB962C8B-B14F-4D97-AF65-F5344CB8AC3E}">
        <p14:creationId xmlns:p14="http://schemas.microsoft.com/office/powerpoint/2010/main" val="3712356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#2: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u="sng"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B5BC3F-00F9-ADA4-7FEC-BF2319791BFB}"/>
              </a:ext>
            </a:extLst>
          </p:cNvPr>
          <p:cNvSpPr>
            <a:spLocks noGrp="1"/>
          </p:cNvSpPr>
          <p:nvPr>
            <p:ph type="title"/>
          </p:nvPr>
        </p:nvSpPr>
        <p:spPr>
          <a:xfrm>
            <a:off x="590550" y="206752"/>
            <a:ext cx="10991850" cy="384721"/>
          </a:xfrm>
        </p:spPr>
        <p:txBody>
          <a:bodyPr/>
          <a:lstStyle/>
          <a:p>
            <a:r>
              <a:rPr lang="en-US" sz="2500" dirty="0"/>
              <a:t>Learning outcome #5 – Multimode Interference (MMI) Coupler cross-section</a:t>
            </a:r>
            <a:endParaRPr lang="es-ES" sz="2500" dirty="0"/>
          </a:p>
        </p:txBody>
      </p:sp>
      <p:sp>
        <p:nvSpPr>
          <p:cNvPr id="3" name="Marcador de texto 2">
            <a:extLst>
              <a:ext uri="{FF2B5EF4-FFF2-40B4-BE49-F238E27FC236}">
                <a16:creationId xmlns:a16="http://schemas.microsoft.com/office/drawing/2014/main" id="{E100EE0C-C9E5-CFDB-5AD8-46188FA10343}"/>
              </a:ext>
            </a:extLst>
          </p:cNvPr>
          <p:cNvSpPr>
            <a:spLocks noGrp="1"/>
          </p:cNvSpPr>
          <p:nvPr>
            <p:ph type="body" idx="1"/>
          </p:nvPr>
        </p:nvSpPr>
        <p:spPr>
          <a:xfrm>
            <a:off x="609600" y="838200"/>
            <a:ext cx="10972800" cy="5265420"/>
          </a:xfrm>
        </p:spPr>
        <p:txBody>
          <a:bodyPr/>
          <a:lstStyle/>
          <a:p>
            <a:endParaRPr lang="es-ES" dirty="0"/>
          </a:p>
        </p:txBody>
      </p:sp>
      <p:sp>
        <p:nvSpPr>
          <p:cNvPr id="4" name="Marcador de pie de página 3">
            <a:extLst>
              <a:ext uri="{FF2B5EF4-FFF2-40B4-BE49-F238E27FC236}">
                <a16:creationId xmlns:a16="http://schemas.microsoft.com/office/drawing/2014/main" id="{CA28A7FD-DB5B-CDDB-1F56-9C613A80FF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D3877A49-6BC8-3835-A9BF-529B1049F0F5}"/>
              </a:ext>
            </a:extLst>
          </p:cNvPr>
          <p:cNvSpPr>
            <a:spLocks noGrp="1"/>
          </p:cNvSpPr>
          <p:nvPr>
            <p:ph type="sldNum" sz="quarter" idx="7"/>
          </p:nvPr>
        </p:nvSpPr>
        <p:spPr/>
        <p:txBody>
          <a:bodyPr/>
          <a:lstStyle/>
          <a:p>
            <a:fld id="{B6F15528-21DE-4FAA-801E-634DDDAF4B2B}" type="slidenum">
              <a:rPr lang="es-ES" smtClean="0"/>
              <a:t>14</a:t>
            </a:fld>
            <a:endParaRPr lang="es-ES"/>
          </a:p>
        </p:txBody>
      </p:sp>
      <p:pic>
        <p:nvPicPr>
          <p:cNvPr id="7" name="Imagen 6">
            <a:extLst>
              <a:ext uri="{FF2B5EF4-FFF2-40B4-BE49-F238E27FC236}">
                <a16:creationId xmlns:a16="http://schemas.microsoft.com/office/drawing/2014/main" id="{8FED5314-C070-AEB2-D572-43056B8E1360}"/>
              </a:ext>
            </a:extLst>
          </p:cNvPr>
          <p:cNvPicPr>
            <a:picLocks noChangeAspect="1"/>
          </p:cNvPicPr>
          <p:nvPr/>
        </p:nvPicPr>
        <p:blipFill>
          <a:blip r:embed="rId2"/>
          <a:stretch>
            <a:fillRect/>
          </a:stretch>
        </p:blipFill>
        <p:spPr>
          <a:xfrm>
            <a:off x="626993" y="838200"/>
            <a:ext cx="4848225" cy="2000250"/>
          </a:xfrm>
          <a:prstGeom prst="rect">
            <a:avLst/>
          </a:prstGeom>
        </p:spPr>
      </p:pic>
      <p:sp>
        <p:nvSpPr>
          <p:cNvPr id="8" name="CuadroTexto 7">
            <a:extLst>
              <a:ext uri="{FF2B5EF4-FFF2-40B4-BE49-F238E27FC236}">
                <a16:creationId xmlns:a16="http://schemas.microsoft.com/office/drawing/2014/main" id="{734C18C6-5C5E-A66A-AE4B-12F02A4B62E1}"/>
              </a:ext>
            </a:extLst>
          </p:cNvPr>
          <p:cNvSpPr txBox="1"/>
          <p:nvPr/>
        </p:nvSpPr>
        <p:spPr>
          <a:xfrm>
            <a:off x="1981200" y="2900511"/>
            <a:ext cx="2454206" cy="369332"/>
          </a:xfrm>
          <a:prstGeom prst="rect">
            <a:avLst/>
          </a:prstGeom>
          <a:noFill/>
        </p:spPr>
        <p:txBody>
          <a:bodyPr wrap="square" rtlCol="0">
            <a:spAutoFit/>
          </a:bodyPr>
          <a:lstStyle/>
          <a:p>
            <a:pPr algn="ctr"/>
            <a:r>
              <a:rPr lang="es-ES" dirty="0"/>
              <a:t>Figura 14</a:t>
            </a:r>
          </a:p>
        </p:txBody>
      </p:sp>
      <p:sp>
        <p:nvSpPr>
          <p:cNvPr id="10" name="CuadroTexto 9">
            <a:extLst>
              <a:ext uri="{FF2B5EF4-FFF2-40B4-BE49-F238E27FC236}">
                <a16:creationId xmlns:a16="http://schemas.microsoft.com/office/drawing/2014/main" id="{A4894491-87C2-DF17-AB37-1698EB1B4C6E}"/>
              </a:ext>
            </a:extLst>
          </p:cNvPr>
          <p:cNvSpPr txBox="1"/>
          <p:nvPr/>
        </p:nvSpPr>
        <p:spPr>
          <a:xfrm>
            <a:off x="577297" y="3743728"/>
            <a:ext cx="11022495" cy="1492716"/>
          </a:xfrm>
          <a:prstGeom prst="rect">
            <a:avLst/>
          </a:prstGeom>
          <a:noFill/>
        </p:spPr>
        <p:txBody>
          <a:bodyPr wrap="square" rtlCol="0">
            <a:spAutoFit/>
          </a:bodyPr>
          <a:lstStyle/>
          <a:p>
            <a:pPr algn="just"/>
            <a:r>
              <a:rPr lang="es-ES" sz="1300" dirty="0">
                <a:latin typeface="Arial" panose="020B0604020202020204" pitchFamily="34" charset="0"/>
                <a:cs typeface="Arial" panose="020B0604020202020204" pitchFamily="34" charset="0"/>
              </a:rPr>
              <a:t>En la figura 14 podemos ver un array con los </a:t>
            </a:r>
            <a:r>
              <a:rPr lang="es-ES" sz="1300" dirty="0" err="1">
                <a:latin typeface="Arial" panose="020B0604020202020204" pitchFamily="34" charset="0"/>
                <a:cs typeface="Arial" panose="020B0604020202020204" pitchFamily="34" charset="0"/>
              </a:rPr>
              <a:t>neff</a:t>
            </a:r>
            <a:r>
              <a:rPr lang="es-ES" sz="1300" dirty="0">
                <a:latin typeface="Arial" panose="020B0604020202020204" pitchFamily="34" charset="0"/>
                <a:cs typeface="Arial" panose="020B0604020202020204" pitchFamily="34" charset="0"/>
              </a:rPr>
              <a:t> de los 20 modos simulados.</a:t>
            </a:r>
          </a:p>
          <a:p>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En la figura 15 vemos la polarización de los modos simulados, se ha representado el porcentaje de potencia correspondiente a la polarización TE, luego todas aquellas posiciones del array que tengan un 9’99..e-01 o un valor similar (como el valor de 9’98e-01 o el de 9’97e-01) se consideran modos que tienen una polarización TE, es decir, el campo eléctrico oscila horizontalmente. Por otro lado, todos los modos del vector que tengan un exponente -2 (e-02) o menor tienen un porcentaje de potencia correspondiente a la polarización TE muy bajo, luego son modos TM, cuyo campo eléctrico oscila verticalmente.</a:t>
            </a:r>
          </a:p>
        </p:txBody>
      </p:sp>
      <p:pic>
        <p:nvPicPr>
          <p:cNvPr id="12" name="Imagen 11">
            <a:extLst>
              <a:ext uri="{FF2B5EF4-FFF2-40B4-BE49-F238E27FC236}">
                <a16:creationId xmlns:a16="http://schemas.microsoft.com/office/drawing/2014/main" id="{23F457CE-EBF9-11BC-A05B-DDE61F74F93F}"/>
              </a:ext>
            </a:extLst>
          </p:cNvPr>
          <p:cNvPicPr>
            <a:picLocks noChangeAspect="1"/>
          </p:cNvPicPr>
          <p:nvPr/>
        </p:nvPicPr>
        <p:blipFill>
          <a:blip r:embed="rId3"/>
          <a:stretch>
            <a:fillRect/>
          </a:stretch>
        </p:blipFill>
        <p:spPr>
          <a:xfrm>
            <a:off x="6150666" y="1810800"/>
            <a:ext cx="5391150" cy="1028700"/>
          </a:xfrm>
          <a:prstGeom prst="rect">
            <a:avLst/>
          </a:prstGeom>
        </p:spPr>
      </p:pic>
      <p:sp>
        <p:nvSpPr>
          <p:cNvPr id="13" name="CuadroTexto 12">
            <a:extLst>
              <a:ext uri="{FF2B5EF4-FFF2-40B4-BE49-F238E27FC236}">
                <a16:creationId xmlns:a16="http://schemas.microsoft.com/office/drawing/2014/main" id="{F1A3E634-AF16-A3ED-CE06-93CB2D0FC549}"/>
              </a:ext>
            </a:extLst>
          </p:cNvPr>
          <p:cNvSpPr txBox="1"/>
          <p:nvPr/>
        </p:nvSpPr>
        <p:spPr>
          <a:xfrm>
            <a:off x="7756596" y="2895898"/>
            <a:ext cx="2454206" cy="369332"/>
          </a:xfrm>
          <a:prstGeom prst="rect">
            <a:avLst/>
          </a:prstGeom>
          <a:noFill/>
        </p:spPr>
        <p:txBody>
          <a:bodyPr wrap="square" rtlCol="0">
            <a:spAutoFit/>
          </a:bodyPr>
          <a:lstStyle/>
          <a:p>
            <a:pPr algn="ctr"/>
            <a:r>
              <a:rPr lang="es-ES" dirty="0"/>
              <a:t>Figura 15</a:t>
            </a:r>
          </a:p>
        </p:txBody>
      </p:sp>
    </p:spTree>
    <p:extLst>
      <p:ext uri="{BB962C8B-B14F-4D97-AF65-F5344CB8AC3E}">
        <p14:creationId xmlns:p14="http://schemas.microsoft.com/office/powerpoint/2010/main" val="3248411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D9352F-DA58-7EAB-859D-9ACD474CD088}"/>
              </a:ext>
            </a:extLst>
          </p:cNvPr>
          <p:cNvSpPr>
            <a:spLocks noGrp="1"/>
          </p:cNvSpPr>
          <p:nvPr>
            <p:ph type="title"/>
          </p:nvPr>
        </p:nvSpPr>
        <p:spPr>
          <a:xfrm>
            <a:off x="590550" y="206752"/>
            <a:ext cx="10991850" cy="384721"/>
          </a:xfrm>
        </p:spPr>
        <p:txBody>
          <a:bodyPr/>
          <a:lstStyle/>
          <a:p>
            <a:r>
              <a:rPr lang="en-US" sz="2500" dirty="0"/>
              <a:t>Learning outcome #5 – Multimode Interference (MMI) Coupler cross-section</a:t>
            </a:r>
            <a:endParaRPr lang="es-ES" sz="2500" dirty="0"/>
          </a:p>
        </p:txBody>
      </p:sp>
      <p:sp>
        <p:nvSpPr>
          <p:cNvPr id="3" name="Marcador de texto 2">
            <a:extLst>
              <a:ext uri="{FF2B5EF4-FFF2-40B4-BE49-F238E27FC236}">
                <a16:creationId xmlns:a16="http://schemas.microsoft.com/office/drawing/2014/main" id="{08EF7A0E-62C3-E974-C816-4864E2E24B23}"/>
              </a:ext>
            </a:extLst>
          </p:cNvPr>
          <p:cNvSpPr>
            <a:spLocks noGrp="1"/>
          </p:cNvSpPr>
          <p:nvPr>
            <p:ph type="body" idx="1"/>
          </p:nvPr>
        </p:nvSpPr>
        <p:spPr>
          <a:xfrm>
            <a:off x="609600" y="1066800"/>
            <a:ext cx="10972800" cy="5247590"/>
          </a:xfrm>
        </p:spPr>
        <p:txBody>
          <a:bodyPr/>
          <a:lstStyle/>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pPr algn="just"/>
            <a:r>
              <a:rPr lang="es-ES" sz="1300" dirty="0">
                <a:latin typeface="Arial" panose="020B0604020202020204" pitchFamily="34" charset="0"/>
                <a:cs typeface="Arial" panose="020B0604020202020204" pitchFamily="34" charset="0"/>
              </a:rPr>
              <a:t>En la figura 16 aparece representado el modo TE0, es un modo más ancho que los vistos anteriormente, pero con la misma altura, lo que hace que salga representado de una forma más aplanada.</a:t>
            </a:r>
          </a:p>
          <a:p>
            <a:pPr algn="just"/>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En la figura 17 tenemos el modo TE1, podemos apreciar que es un modo impar debido a la oposición de fase de la luz en diferentes puntos del espacio, la representación es aplanada debido a lo explicado en el párrafo anterior.</a:t>
            </a:r>
          </a:p>
          <a:p>
            <a:pPr algn="just"/>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En la figura 18 tenemos el modo TE7, de nuevo es un modo impar dado las oposiciones de fase que se aprecian en la figura, al igual que en la figura Y presenta un nulo del campo en x = 0, la representación vuelve a ser aplanada por el cambio de anchura.</a:t>
            </a:r>
          </a:p>
          <a:p>
            <a:pPr algn="just"/>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No es casualidad que los 3 modos elegidos sean TE, si nos vamos a la figura 15 de la dispositiva anterior y nos fijamos en las posiciones 0, 1 y 7 del array podemos ver como la fracción de potencia TE es prácticamente 1.</a:t>
            </a:r>
          </a:p>
        </p:txBody>
      </p:sp>
      <p:sp>
        <p:nvSpPr>
          <p:cNvPr id="4" name="Marcador de pie de página 3">
            <a:extLst>
              <a:ext uri="{FF2B5EF4-FFF2-40B4-BE49-F238E27FC236}">
                <a16:creationId xmlns:a16="http://schemas.microsoft.com/office/drawing/2014/main" id="{A6DB3B2A-140D-40BB-14A1-E4001D9E702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C416130-A70E-88FC-AE0E-4DB4D2DAD33F}"/>
              </a:ext>
            </a:extLst>
          </p:cNvPr>
          <p:cNvSpPr>
            <a:spLocks noGrp="1"/>
          </p:cNvSpPr>
          <p:nvPr>
            <p:ph type="sldNum" sz="quarter" idx="7"/>
          </p:nvPr>
        </p:nvSpPr>
        <p:spPr/>
        <p:txBody>
          <a:bodyPr/>
          <a:lstStyle/>
          <a:p>
            <a:fld id="{B6F15528-21DE-4FAA-801E-634DDDAF4B2B}" type="slidenum">
              <a:rPr lang="es-ES" smtClean="0"/>
              <a:t>15</a:t>
            </a:fld>
            <a:endParaRPr lang="es-ES"/>
          </a:p>
        </p:txBody>
      </p:sp>
      <p:pic>
        <p:nvPicPr>
          <p:cNvPr id="7" name="Imagen 6">
            <a:extLst>
              <a:ext uri="{FF2B5EF4-FFF2-40B4-BE49-F238E27FC236}">
                <a16:creationId xmlns:a16="http://schemas.microsoft.com/office/drawing/2014/main" id="{246594BD-0768-AA27-13F9-3668D7DA37EB}"/>
              </a:ext>
            </a:extLst>
          </p:cNvPr>
          <p:cNvPicPr>
            <a:picLocks noChangeAspect="1"/>
          </p:cNvPicPr>
          <p:nvPr/>
        </p:nvPicPr>
        <p:blipFill>
          <a:blip r:embed="rId2"/>
          <a:stretch>
            <a:fillRect/>
          </a:stretch>
        </p:blipFill>
        <p:spPr>
          <a:xfrm>
            <a:off x="613741" y="1066801"/>
            <a:ext cx="3120059" cy="2212196"/>
          </a:xfrm>
          <a:prstGeom prst="rect">
            <a:avLst/>
          </a:prstGeom>
        </p:spPr>
      </p:pic>
      <p:pic>
        <p:nvPicPr>
          <p:cNvPr id="9" name="Imagen 8">
            <a:extLst>
              <a:ext uri="{FF2B5EF4-FFF2-40B4-BE49-F238E27FC236}">
                <a16:creationId xmlns:a16="http://schemas.microsoft.com/office/drawing/2014/main" id="{7BED85CC-BABC-1D7C-21B3-718AA74762E8}"/>
              </a:ext>
            </a:extLst>
          </p:cNvPr>
          <p:cNvPicPr>
            <a:picLocks noChangeAspect="1"/>
          </p:cNvPicPr>
          <p:nvPr/>
        </p:nvPicPr>
        <p:blipFill>
          <a:blip r:embed="rId3"/>
          <a:stretch>
            <a:fillRect/>
          </a:stretch>
        </p:blipFill>
        <p:spPr>
          <a:xfrm>
            <a:off x="4518798" y="1069197"/>
            <a:ext cx="3154404" cy="2209800"/>
          </a:xfrm>
          <a:prstGeom prst="rect">
            <a:avLst/>
          </a:prstGeom>
        </p:spPr>
      </p:pic>
      <p:pic>
        <p:nvPicPr>
          <p:cNvPr id="11" name="Imagen 10">
            <a:extLst>
              <a:ext uri="{FF2B5EF4-FFF2-40B4-BE49-F238E27FC236}">
                <a16:creationId xmlns:a16="http://schemas.microsoft.com/office/drawing/2014/main" id="{C993BDBD-1AC4-A520-7F55-972CFB88C1C3}"/>
              </a:ext>
            </a:extLst>
          </p:cNvPr>
          <p:cNvPicPr>
            <a:picLocks noChangeAspect="1"/>
          </p:cNvPicPr>
          <p:nvPr/>
        </p:nvPicPr>
        <p:blipFill>
          <a:blip r:embed="rId4"/>
          <a:stretch>
            <a:fillRect/>
          </a:stretch>
        </p:blipFill>
        <p:spPr>
          <a:xfrm>
            <a:off x="8403123" y="1099929"/>
            <a:ext cx="3168510" cy="2212196"/>
          </a:xfrm>
          <a:prstGeom prst="rect">
            <a:avLst/>
          </a:prstGeom>
        </p:spPr>
      </p:pic>
      <p:sp>
        <p:nvSpPr>
          <p:cNvPr id="12" name="CuadroTexto 11">
            <a:extLst>
              <a:ext uri="{FF2B5EF4-FFF2-40B4-BE49-F238E27FC236}">
                <a16:creationId xmlns:a16="http://schemas.microsoft.com/office/drawing/2014/main" id="{C0EC267C-3033-6335-DAB6-483FFC475BD7}"/>
              </a:ext>
            </a:extLst>
          </p:cNvPr>
          <p:cNvSpPr txBox="1"/>
          <p:nvPr/>
        </p:nvSpPr>
        <p:spPr>
          <a:xfrm>
            <a:off x="885342" y="3244334"/>
            <a:ext cx="2454206" cy="369332"/>
          </a:xfrm>
          <a:prstGeom prst="rect">
            <a:avLst/>
          </a:prstGeom>
          <a:noFill/>
        </p:spPr>
        <p:txBody>
          <a:bodyPr wrap="square" rtlCol="0">
            <a:spAutoFit/>
          </a:bodyPr>
          <a:lstStyle/>
          <a:p>
            <a:pPr algn="ctr"/>
            <a:r>
              <a:rPr lang="es-ES" dirty="0"/>
              <a:t>Figura 16</a:t>
            </a:r>
          </a:p>
        </p:txBody>
      </p:sp>
      <p:sp>
        <p:nvSpPr>
          <p:cNvPr id="13" name="CuadroTexto 12">
            <a:extLst>
              <a:ext uri="{FF2B5EF4-FFF2-40B4-BE49-F238E27FC236}">
                <a16:creationId xmlns:a16="http://schemas.microsoft.com/office/drawing/2014/main" id="{CEF82F97-7CCA-73C1-C64E-F21D94B4014C}"/>
              </a:ext>
            </a:extLst>
          </p:cNvPr>
          <p:cNvSpPr txBox="1"/>
          <p:nvPr/>
        </p:nvSpPr>
        <p:spPr>
          <a:xfrm>
            <a:off x="4644232" y="3244334"/>
            <a:ext cx="2454206" cy="369332"/>
          </a:xfrm>
          <a:prstGeom prst="rect">
            <a:avLst/>
          </a:prstGeom>
          <a:noFill/>
        </p:spPr>
        <p:txBody>
          <a:bodyPr wrap="square" rtlCol="0">
            <a:spAutoFit/>
          </a:bodyPr>
          <a:lstStyle/>
          <a:p>
            <a:pPr algn="ctr"/>
            <a:r>
              <a:rPr lang="es-ES" dirty="0"/>
              <a:t>Figura 17</a:t>
            </a:r>
          </a:p>
        </p:txBody>
      </p:sp>
      <p:sp>
        <p:nvSpPr>
          <p:cNvPr id="17" name="CuadroTexto 16">
            <a:extLst>
              <a:ext uri="{FF2B5EF4-FFF2-40B4-BE49-F238E27FC236}">
                <a16:creationId xmlns:a16="http://schemas.microsoft.com/office/drawing/2014/main" id="{0DCA22F7-A6CF-357F-D06D-FE02F1FA3E53}"/>
              </a:ext>
            </a:extLst>
          </p:cNvPr>
          <p:cNvSpPr txBox="1"/>
          <p:nvPr/>
        </p:nvSpPr>
        <p:spPr>
          <a:xfrm>
            <a:off x="8688080" y="3244334"/>
            <a:ext cx="2454206" cy="369332"/>
          </a:xfrm>
          <a:prstGeom prst="rect">
            <a:avLst/>
          </a:prstGeom>
          <a:noFill/>
        </p:spPr>
        <p:txBody>
          <a:bodyPr wrap="square" rtlCol="0">
            <a:spAutoFit/>
          </a:bodyPr>
          <a:lstStyle/>
          <a:p>
            <a:pPr algn="ctr"/>
            <a:r>
              <a:rPr lang="es-ES" dirty="0"/>
              <a:t>Figura 18</a:t>
            </a:r>
          </a:p>
        </p:txBody>
      </p:sp>
    </p:spTree>
    <p:extLst>
      <p:ext uri="{BB962C8B-B14F-4D97-AF65-F5344CB8AC3E}">
        <p14:creationId xmlns:p14="http://schemas.microsoft.com/office/powerpoint/2010/main" val="56910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1DFE40-877D-94E5-A382-2FFEEC880903}"/>
              </a:ext>
            </a:extLst>
          </p:cNvPr>
          <p:cNvSpPr>
            <a:spLocks noGrp="1"/>
          </p:cNvSpPr>
          <p:nvPr>
            <p:ph type="title"/>
          </p:nvPr>
        </p:nvSpPr>
        <p:spPr>
          <a:xfrm>
            <a:off x="590550" y="206752"/>
            <a:ext cx="10991850" cy="384721"/>
          </a:xfrm>
        </p:spPr>
        <p:txBody>
          <a:bodyPr/>
          <a:lstStyle/>
          <a:p>
            <a:r>
              <a:rPr lang="en-US" sz="2500" dirty="0"/>
              <a:t>Learning outcome #5 – Multimode Interference (MMI) Coupler cross-section</a:t>
            </a:r>
            <a:endParaRPr lang="es-ES" sz="2500" dirty="0"/>
          </a:p>
        </p:txBody>
      </p:sp>
      <p:sp>
        <p:nvSpPr>
          <p:cNvPr id="3" name="Marcador de texto 2">
            <a:extLst>
              <a:ext uri="{FF2B5EF4-FFF2-40B4-BE49-F238E27FC236}">
                <a16:creationId xmlns:a16="http://schemas.microsoft.com/office/drawing/2014/main" id="{2BA43109-7465-7FD3-BE70-B44519FBC24B}"/>
              </a:ext>
            </a:extLst>
          </p:cNvPr>
          <p:cNvSpPr>
            <a:spLocks noGrp="1"/>
          </p:cNvSpPr>
          <p:nvPr>
            <p:ph type="body" idx="1"/>
          </p:nvPr>
        </p:nvSpPr>
        <p:spPr>
          <a:xfrm>
            <a:off x="609600" y="914400"/>
            <a:ext cx="10972800" cy="1400383"/>
          </a:xfrm>
        </p:spPr>
        <p:txBody>
          <a:bodyPr/>
          <a:lstStyle/>
          <a:p>
            <a:r>
              <a:rPr lang="es-ES" sz="1300" dirty="0">
                <a:latin typeface="Arial" panose="020B0604020202020204" pitchFamily="34" charset="0"/>
                <a:cs typeface="Arial" panose="020B0604020202020204" pitchFamily="34" charset="0"/>
              </a:rPr>
              <a:t>Por último, se nos pide calcular la longitud L</a:t>
            </a:r>
            <a:r>
              <a:rPr lang="el-GR" sz="1300" b="0" i="0" dirty="0">
                <a:solidFill>
                  <a:schemeClr val="tx1"/>
                </a:solidFill>
                <a:effectLst/>
                <a:highlight>
                  <a:srgbClr val="FFFFFF"/>
                </a:highlight>
                <a:latin typeface="Arial" panose="020B0604020202020204" pitchFamily="34" charset="0"/>
                <a:cs typeface="Arial" panose="020B0604020202020204" pitchFamily="34" charset="0"/>
              </a:rPr>
              <a:t>π</a:t>
            </a:r>
            <a:r>
              <a:rPr lang="es-ES" sz="1300" b="0" i="0" dirty="0">
                <a:solidFill>
                  <a:schemeClr val="tx1"/>
                </a:solidFill>
                <a:effectLst/>
                <a:highlight>
                  <a:srgbClr val="FFFFFF"/>
                </a:highlight>
                <a:latin typeface="Arial" panose="020B0604020202020204" pitchFamily="34" charset="0"/>
                <a:cs typeface="Arial" panose="020B0604020202020204" pitchFamily="34" charset="0"/>
              </a:rPr>
              <a:t>  del acoplador MMI a partir de la información obtenida anteriormente. Para dicho cálculo aplicamos la fórmula de la figura 6.</a:t>
            </a:r>
          </a:p>
          <a:p>
            <a:endParaRPr lang="es-ES" sz="1300" dirty="0">
              <a:solidFill>
                <a:schemeClr val="tx1"/>
              </a:solidFill>
              <a:highlight>
                <a:srgbClr val="FFFFFF"/>
              </a:highlight>
              <a:latin typeface="Arial" panose="020B0604020202020204" pitchFamily="34" charset="0"/>
              <a:cs typeface="Arial" panose="020B0604020202020204" pitchFamily="34" charset="0"/>
            </a:endParaRPr>
          </a:p>
          <a:p>
            <a:r>
              <a:rPr lang="es-ES" sz="1300" dirty="0">
                <a:solidFill>
                  <a:schemeClr val="tx1"/>
                </a:solidFill>
                <a:highlight>
                  <a:srgbClr val="FFFFFF"/>
                </a:highlight>
                <a:latin typeface="Arial" panose="020B0604020202020204" pitchFamily="34" charset="0"/>
                <a:cs typeface="Arial" panose="020B0604020202020204" pitchFamily="34" charset="0"/>
              </a:rPr>
              <a:t>Una vez aplicada la fórmula obtenemos que: 	</a:t>
            </a:r>
            <a:r>
              <a:rPr lang="es-ES" sz="1300" b="1" dirty="0">
                <a:latin typeface="Arial" panose="020B0604020202020204" pitchFamily="34" charset="0"/>
                <a:cs typeface="Arial" panose="020B0604020202020204" pitchFamily="34" charset="0"/>
              </a:rPr>
              <a:t>L</a:t>
            </a:r>
            <a:r>
              <a:rPr lang="el-GR" sz="1300" b="1" i="0" dirty="0">
                <a:solidFill>
                  <a:schemeClr val="tx1"/>
                </a:solidFill>
                <a:effectLst/>
                <a:highlight>
                  <a:srgbClr val="FFFFFF"/>
                </a:highlight>
                <a:latin typeface="Arial" panose="020B0604020202020204" pitchFamily="34" charset="0"/>
                <a:cs typeface="Arial" panose="020B0604020202020204" pitchFamily="34" charset="0"/>
              </a:rPr>
              <a:t>π</a:t>
            </a:r>
            <a:r>
              <a:rPr lang="es-ES" sz="1300" b="1" i="0" dirty="0">
                <a:solidFill>
                  <a:schemeClr val="tx1"/>
                </a:solidFill>
                <a:effectLst/>
                <a:highlight>
                  <a:srgbClr val="FFFFFF"/>
                </a:highlight>
                <a:latin typeface="Arial" panose="020B0604020202020204" pitchFamily="34" charset="0"/>
                <a:cs typeface="Arial" panose="020B0604020202020204" pitchFamily="34" charset="0"/>
              </a:rPr>
              <a:t> =  219.41119794414357 </a:t>
            </a:r>
            <a:r>
              <a:rPr lang="es-ES" sz="1300" b="1" i="0" dirty="0" err="1">
                <a:solidFill>
                  <a:schemeClr val="tx1"/>
                </a:solidFill>
                <a:effectLst/>
                <a:highlight>
                  <a:srgbClr val="FFFFFF"/>
                </a:highlight>
                <a:latin typeface="Arial" panose="020B0604020202020204" pitchFamily="34" charset="0"/>
                <a:cs typeface="Arial" panose="020B0604020202020204" pitchFamily="34" charset="0"/>
              </a:rPr>
              <a:t>um</a:t>
            </a:r>
            <a:endParaRPr lang="es-ES" sz="1300" b="1" i="0" dirty="0">
              <a:solidFill>
                <a:schemeClr val="tx1"/>
              </a:solidFill>
              <a:effectLst/>
              <a:highlight>
                <a:srgbClr val="FFFFFF"/>
              </a:highlight>
              <a:latin typeface="Arial" panose="020B0604020202020204" pitchFamily="34" charset="0"/>
              <a:cs typeface="Arial" panose="020B0604020202020204" pitchFamily="34" charset="0"/>
            </a:endParaRPr>
          </a:p>
          <a:p>
            <a:endParaRPr lang="es-ES" sz="1300" b="1" dirty="0">
              <a:solidFill>
                <a:schemeClr val="tx1"/>
              </a:solidFill>
              <a:highlight>
                <a:srgbClr val="FFFFFF"/>
              </a:highlight>
              <a:latin typeface="Arial" panose="020B0604020202020204" pitchFamily="34" charset="0"/>
              <a:cs typeface="Arial" panose="020B0604020202020204" pitchFamily="34" charset="0"/>
            </a:endParaRPr>
          </a:p>
          <a:p>
            <a:r>
              <a:rPr lang="es-ES" sz="1300" dirty="0">
                <a:latin typeface="Arial" panose="020B0604020202020204" pitchFamily="34" charset="0"/>
                <a:cs typeface="Arial" panose="020B0604020202020204" pitchFamily="34" charset="0"/>
              </a:rPr>
              <a:t>Luego necesitamos algo más de 219 micrómetros de longitud para que haya un desfase pi (oposición de fase completa) entre el modo impar y el modo par.</a:t>
            </a:r>
          </a:p>
        </p:txBody>
      </p:sp>
      <p:sp>
        <p:nvSpPr>
          <p:cNvPr id="4" name="Marcador de pie de página 3">
            <a:extLst>
              <a:ext uri="{FF2B5EF4-FFF2-40B4-BE49-F238E27FC236}">
                <a16:creationId xmlns:a16="http://schemas.microsoft.com/office/drawing/2014/main" id="{A9B1E789-6976-91F8-E5F4-E7537D7A6DE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B7E0AFF6-73FA-209F-0B22-B6A024F3BAA7}"/>
              </a:ext>
            </a:extLst>
          </p:cNvPr>
          <p:cNvSpPr>
            <a:spLocks noGrp="1"/>
          </p:cNvSpPr>
          <p:nvPr>
            <p:ph type="sldNum" sz="quarter" idx="7"/>
          </p:nvPr>
        </p:nvSpPr>
        <p:spPr/>
        <p:txBody>
          <a:bodyPr/>
          <a:lstStyle/>
          <a:p>
            <a:fld id="{B6F15528-21DE-4FAA-801E-634DDDAF4B2B}" type="slidenum">
              <a:rPr lang="es-ES" smtClean="0"/>
              <a:t>16</a:t>
            </a:fld>
            <a:endParaRPr lang="es-ES"/>
          </a:p>
        </p:txBody>
      </p:sp>
    </p:spTree>
    <p:extLst>
      <p:ext uri="{BB962C8B-B14F-4D97-AF65-F5344CB8AC3E}">
        <p14:creationId xmlns:p14="http://schemas.microsoft.com/office/powerpoint/2010/main" val="2628644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10" name="Imagen 9">
            <a:extLst>
              <a:ext uri="{FF2B5EF4-FFF2-40B4-BE49-F238E27FC236}">
                <a16:creationId xmlns:a16="http://schemas.microsoft.com/office/drawing/2014/main" id="{56546AED-C4DF-C23F-3ACD-59ABA12BCFB0}"/>
              </a:ext>
            </a:extLst>
          </p:cNvPr>
          <p:cNvPicPr>
            <a:picLocks noChangeAspect="1"/>
          </p:cNvPicPr>
          <p:nvPr/>
        </p:nvPicPr>
        <p:blipFill>
          <a:blip r:embed="rId5"/>
          <a:stretch>
            <a:fillRect/>
          </a:stretch>
        </p:blipFill>
        <p:spPr>
          <a:xfrm>
            <a:off x="457200" y="1222038"/>
            <a:ext cx="4800600" cy="1945958"/>
          </a:xfrm>
          <a:prstGeom prst="rect">
            <a:avLst/>
          </a:prstGeom>
        </p:spPr>
      </p:pic>
      <p:pic>
        <p:nvPicPr>
          <p:cNvPr id="11" name="Imagen 10">
            <a:extLst>
              <a:ext uri="{FF2B5EF4-FFF2-40B4-BE49-F238E27FC236}">
                <a16:creationId xmlns:a16="http://schemas.microsoft.com/office/drawing/2014/main" id="{C7CE2CE2-E62E-67C2-0D02-FC5DEDCFCEFC}"/>
              </a:ext>
            </a:extLst>
          </p:cNvPr>
          <p:cNvPicPr>
            <a:picLocks noChangeAspect="1"/>
          </p:cNvPicPr>
          <p:nvPr/>
        </p:nvPicPr>
        <p:blipFill>
          <a:blip r:embed="rId6"/>
          <a:stretch>
            <a:fillRect/>
          </a:stretch>
        </p:blipFill>
        <p:spPr>
          <a:xfrm>
            <a:off x="1609724" y="3661889"/>
            <a:ext cx="2962275" cy="2200275"/>
          </a:xfrm>
          <a:prstGeom prst="rect">
            <a:avLst/>
          </a:prstGeom>
        </p:spPr>
      </p:pic>
      <p:sp>
        <p:nvSpPr>
          <p:cNvPr id="2" name="CuadroTexto 1">
            <a:extLst>
              <a:ext uri="{FF2B5EF4-FFF2-40B4-BE49-F238E27FC236}">
                <a16:creationId xmlns:a16="http://schemas.microsoft.com/office/drawing/2014/main" id="{41350239-527F-78C9-8693-14DF1283E8C7}"/>
              </a:ext>
            </a:extLst>
          </p:cNvPr>
          <p:cNvSpPr txBox="1"/>
          <p:nvPr/>
        </p:nvSpPr>
        <p:spPr>
          <a:xfrm>
            <a:off x="1833562" y="3091164"/>
            <a:ext cx="2514600" cy="369332"/>
          </a:xfrm>
          <a:prstGeom prst="rect">
            <a:avLst/>
          </a:prstGeom>
          <a:noFill/>
        </p:spPr>
        <p:txBody>
          <a:bodyPr wrap="square" rtlCol="0">
            <a:spAutoFit/>
          </a:bodyPr>
          <a:lstStyle/>
          <a:p>
            <a:pPr algn="ctr"/>
            <a:r>
              <a:rPr lang="es-ES" dirty="0"/>
              <a:t>Figura 19</a:t>
            </a:r>
          </a:p>
        </p:txBody>
      </p:sp>
      <p:sp>
        <p:nvSpPr>
          <p:cNvPr id="4" name="CuadroTexto 3">
            <a:extLst>
              <a:ext uri="{FF2B5EF4-FFF2-40B4-BE49-F238E27FC236}">
                <a16:creationId xmlns:a16="http://schemas.microsoft.com/office/drawing/2014/main" id="{ACA0A0B5-6007-1A89-3526-5FAC5480C0BA}"/>
              </a:ext>
            </a:extLst>
          </p:cNvPr>
          <p:cNvSpPr txBox="1"/>
          <p:nvPr/>
        </p:nvSpPr>
        <p:spPr>
          <a:xfrm>
            <a:off x="1812106" y="6008608"/>
            <a:ext cx="2514600" cy="369332"/>
          </a:xfrm>
          <a:prstGeom prst="rect">
            <a:avLst/>
          </a:prstGeom>
          <a:noFill/>
        </p:spPr>
        <p:txBody>
          <a:bodyPr wrap="square" rtlCol="0">
            <a:spAutoFit/>
          </a:bodyPr>
          <a:lstStyle/>
          <a:p>
            <a:pPr algn="ctr"/>
            <a:r>
              <a:rPr lang="es-ES" dirty="0"/>
              <a:t>Figura 20</a:t>
            </a:r>
          </a:p>
        </p:txBody>
      </p:sp>
      <p:sp>
        <p:nvSpPr>
          <p:cNvPr id="5" name="CuadroTexto 4">
            <a:extLst>
              <a:ext uri="{FF2B5EF4-FFF2-40B4-BE49-F238E27FC236}">
                <a16:creationId xmlns:a16="http://schemas.microsoft.com/office/drawing/2014/main" id="{CA886EFF-78A3-76C3-BA3D-094DF3A44D72}"/>
              </a:ext>
            </a:extLst>
          </p:cNvPr>
          <p:cNvSpPr txBox="1"/>
          <p:nvPr/>
        </p:nvSpPr>
        <p:spPr>
          <a:xfrm>
            <a:off x="5724524" y="1713864"/>
            <a:ext cx="5965210" cy="3493264"/>
          </a:xfrm>
          <a:prstGeom prst="rect">
            <a:avLst/>
          </a:prstGeom>
          <a:noFill/>
        </p:spPr>
        <p:txBody>
          <a:bodyPr wrap="square" rtlCol="0">
            <a:spAutoFit/>
          </a:bodyPr>
          <a:lstStyle/>
          <a:p>
            <a:pPr algn="just"/>
            <a:r>
              <a:rPr lang="es-ES" sz="1300" dirty="0">
                <a:latin typeface="Arial" panose="020B0604020202020204" pitchFamily="34" charset="0"/>
                <a:cs typeface="Arial" panose="020B0604020202020204" pitchFamily="34" charset="0"/>
              </a:rPr>
              <a:t>Si atendemos a la figura 19 vemos un acoplador de interferencia multimodo 2x2 con un ancho de 6’6 </a:t>
            </a:r>
            <a:r>
              <a:rPr lang="es-ES" sz="1300" dirty="0" err="1">
                <a:latin typeface="Arial" panose="020B0604020202020204" pitchFamily="34" charset="0"/>
                <a:cs typeface="Arial" panose="020B0604020202020204" pitchFamily="34" charset="0"/>
              </a:rPr>
              <a:t>um</a:t>
            </a:r>
            <a:r>
              <a:rPr lang="es-ES" sz="1300" dirty="0">
                <a:latin typeface="Arial" panose="020B0604020202020204" pitchFamily="34" charset="0"/>
                <a:cs typeface="Arial" panose="020B0604020202020204" pitchFamily="34" charset="0"/>
              </a:rPr>
              <a:t> y una longitud de onda de 1550 nm. Las entradas y salidas se colocan a +- W/6 y la longitud empleada es de 34’518 </a:t>
            </a:r>
            <a:r>
              <a:rPr lang="es-ES" sz="1300" dirty="0" err="1">
                <a:latin typeface="Arial" panose="020B0604020202020204" pitchFamily="34" charset="0"/>
                <a:cs typeface="Arial" panose="020B0604020202020204" pitchFamily="34" charset="0"/>
              </a:rPr>
              <a:t>um</a:t>
            </a:r>
            <a:r>
              <a:rPr lang="es-ES" sz="1300" dirty="0">
                <a:latin typeface="Arial" panose="020B0604020202020204" pitchFamily="34" charset="0"/>
                <a:cs typeface="Arial" panose="020B0604020202020204" pitchFamily="34" charset="0"/>
              </a:rPr>
              <a:t>, que se corresponde con L</a:t>
            </a:r>
            <a:r>
              <a:rPr lang="el-GR" sz="1300" i="0" dirty="0">
                <a:solidFill>
                  <a:schemeClr val="tx1"/>
                </a:solidFill>
                <a:effectLst/>
                <a:highlight>
                  <a:srgbClr val="FFFFFF"/>
                </a:highlight>
                <a:latin typeface="Arial" panose="020B0604020202020204" pitchFamily="34" charset="0"/>
                <a:cs typeface="Arial" panose="020B0604020202020204" pitchFamily="34" charset="0"/>
              </a:rPr>
              <a:t>π</a:t>
            </a:r>
            <a:r>
              <a:rPr lang="es-ES" sz="1300" i="0" dirty="0">
                <a:solidFill>
                  <a:schemeClr val="tx1"/>
                </a:solidFill>
                <a:effectLst/>
                <a:highlight>
                  <a:srgbClr val="FFFFFF"/>
                </a:highlight>
                <a:latin typeface="Arial" panose="020B0604020202020204" pitchFamily="34" charset="0"/>
                <a:cs typeface="Arial" panose="020B0604020202020204" pitchFamily="34" charset="0"/>
              </a:rPr>
              <a:t> /2 (</a:t>
            </a:r>
            <a:r>
              <a:rPr lang="es-ES" sz="1300" dirty="0">
                <a:latin typeface="Arial" panose="020B0604020202020204" pitchFamily="34" charset="0"/>
                <a:cs typeface="Arial" panose="020B0604020202020204" pitchFamily="34" charset="0"/>
              </a:rPr>
              <a:t>L</a:t>
            </a:r>
            <a:r>
              <a:rPr lang="el-GR" sz="1300" i="0" dirty="0">
                <a:solidFill>
                  <a:schemeClr val="tx1"/>
                </a:solidFill>
                <a:effectLst/>
                <a:highlight>
                  <a:srgbClr val="FFFFFF"/>
                </a:highlight>
                <a:latin typeface="Arial" panose="020B0604020202020204" pitchFamily="34" charset="0"/>
                <a:cs typeface="Arial" panose="020B0604020202020204" pitchFamily="34" charset="0"/>
              </a:rPr>
              <a:t>π</a:t>
            </a:r>
            <a:r>
              <a:rPr lang="es-ES" sz="1300" i="0" dirty="0">
                <a:solidFill>
                  <a:schemeClr val="tx1"/>
                </a:solidFill>
                <a:effectLst/>
                <a:highlight>
                  <a:srgbClr val="FFFFFF"/>
                </a:highlight>
                <a:latin typeface="Arial" panose="020B0604020202020204" pitchFamily="34" charset="0"/>
                <a:cs typeface="Arial" panose="020B0604020202020204" pitchFamily="34" charset="0"/>
              </a:rPr>
              <a:t> = 69’036 </a:t>
            </a:r>
            <a:r>
              <a:rPr lang="es-ES" sz="1300" i="0" dirty="0" err="1">
                <a:solidFill>
                  <a:schemeClr val="tx1"/>
                </a:solidFill>
                <a:effectLst/>
                <a:highlight>
                  <a:srgbClr val="FFFFFF"/>
                </a:highlight>
                <a:latin typeface="Arial" panose="020B0604020202020204" pitchFamily="34" charset="0"/>
                <a:cs typeface="Arial" panose="020B0604020202020204" pitchFamily="34" charset="0"/>
              </a:rPr>
              <a:t>um</a:t>
            </a:r>
            <a:r>
              <a:rPr lang="es-ES" sz="1300" i="0" dirty="0">
                <a:solidFill>
                  <a:schemeClr val="tx1"/>
                </a:solidFill>
                <a:effectLst/>
                <a:highlight>
                  <a:srgbClr val="FFFFFF"/>
                </a:highlight>
                <a:latin typeface="Arial" panose="020B0604020202020204" pitchFamily="34" charset="0"/>
                <a:cs typeface="Arial" panose="020B0604020202020204" pitchFamily="34" charset="0"/>
              </a:rPr>
              <a:t> ).</a:t>
            </a:r>
          </a:p>
          <a:p>
            <a:endParaRPr lang="es-ES" sz="1300" dirty="0">
              <a:highlight>
                <a:srgbClr val="FFFFFF"/>
              </a:highlight>
              <a:latin typeface="Arial" panose="020B0604020202020204" pitchFamily="34" charset="0"/>
              <a:cs typeface="Arial" panose="020B0604020202020204" pitchFamily="34" charset="0"/>
            </a:endParaRPr>
          </a:p>
          <a:p>
            <a:pPr algn="just"/>
            <a:r>
              <a:rPr lang="es-ES" sz="1300" dirty="0">
                <a:highlight>
                  <a:srgbClr val="FFFFFF"/>
                </a:highlight>
                <a:latin typeface="Arial" panose="020B0604020202020204" pitchFamily="34" charset="0"/>
                <a:cs typeface="Arial" panose="020B0604020202020204" pitchFamily="34" charset="0"/>
              </a:rPr>
              <a:t>En la figura 20 aparecen los parámetros del acoplador anteriormente mencionado, en dichos parámetros se puede observar que la potencia a la salida es menor que a la entrada, luego tenemos unas pérdidas, en esta ocasión de 0’4217 </a:t>
            </a:r>
            <a:r>
              <a:rPr lang="es-ES" sz="1300" dirty="0" err="1">
                <a:highlight>
                  <a:srgbClr val="FFFFFF"/>
                </a:highlight>
                <a:latin typeface="Arial" panose="020B0604020202020204" pitchFamily="34" charset="0"/>
                <a:cs typeface="Arial" panose="020B0604020202020204" pitchFamily="34" charset="0"/>
              </a:rPr>
              <a:t>db</a:t>
            </a:r>
            <a:r>
              <a:rPr lang="es-ES" sz="1300" dirty="0">
                <a:highlight>
                  <a:srgbClr val="FFFFFF"/>
                </a:highlight>
                <a:latin typeface="Arial" panose="020B0604020202020204" pitchFamily="34" charset="0"/>
                <a:cs typeface="Arial" panose="020B0604020202020204" pitchFamily="34" charset="0"/>
              </a:rPr>
              <a:t>. Si ahora nos fijamos en el reparto de potencia nos damos cuenta de que hay un ligero desbalance entre las salidas, es decir, la potencia no se reparte 50/50, aunque el reparto es bastante parejo, por un puerto sale el 51’52% de la potencia mientras que por el otro sale el 48’48%.</a:t>
            </a:r>
          </a:p>
          <a:p>
            <a:pPr algn="just"/>
            <a:endParaRPr lang="es-ES" sz="1300" dirty="0">
              <a:highlight>
                <a:srgbClr val="FFFFFF"/>
              </a:highlight>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Mientras que el acoplador direccional transfiere la potencia de forma progresiva mediante el acoplo de campos evanescentes entre dos núcleos, el MMI lo logra mediante la interferencia constructiva de </a:t>
            </a:r>
            <a:r>
              <a:rPr lang="es-ES" sz="1300" b="1" dirty="0">
                <a:latin typeface="Arial" panose="020B0604020202020204" pitchFamily="34" charset="0"/>
                <a:cs typeface="Arial" panose="020B0604020202020204" pitchFamily="34" charset="0"/>
              </a:rPr>
              <a:t>múltiples modos </a:t>
            </a:r>
            <a:r>
              <a:rPr lang="es-ES" sz="1300" dirty="0">
                <a:latin typeface="Arial" panose="020B0604020202020204" pitchFamily="34" charset="0"/>
                <a:cs typeface="Arial" panose="020B0604020202020204" pitchFamily="34" charset="0"/>
              </a:rPr>
              <a:t>en una única sección ancha.</a:t>
            </a:r>
          </a:p>
        </p:txBody>
      </p:sp>
    </p:spTree>
    <p:extLst>
      <p:ext uri="{BB962C8B-B14F-4D97-AF65-F5344CB8AC3E}">
        <p14:creationId xmlns:p14="http://schemas.microsoft.com/office/powerpoint/2010/main" val="2815679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9" name="Imagen 8">
            <a:extLst>
              <a:ext uri="{FF2B5EF4-FFF2-40B4-BE49-F238E27FC236}">
                <a16:creationId xmlns:a16="http://schemas.microsoft.com/office/drawing/2014/main" id="{0762D5B2-1D80-FBF3-B107-222029C1E221}"/>
              </a:ext>
            </a:extLst>
          </p:cNvPr>
          <p:cNvPicPr>
            <a:picLocks noChangeAspect="1"/>
          </p:cNvPicPr>
          <p:nvPr/>
        </p:nvPicPr>
        <p:blipFill>
          <a:blip r:embed="rId5"/>
          <a:stretch>
            <a:fillRect/>
          </a:stretch>
        </p:blipFill>
        <p:spPr>
          <a:xfrm>
            <a:off x="740651" y="1270755"/>
            <a:ext cx="4614698" cy="1905000"/>
          </a:xfrm>
          <a:prstGeom prst="rect">
            <a:avLst/>
          </a:prstGeom>
        </p:spPr>
      </p:pic>
      <p:pic>
        <p:nvPicPr>
          <p:cNvPr id="11" name="Imagen 10">
            <a:extLst>
              <a:ext uri="{FF2B5EF4-FFF2-40B4-BE49-F238E27FC236}">
                <a16:creationId xmlns:a16="http://schemas.microsoft.com/office/drawing/2014/main" id="{90174FC3-CE10-CB86-D637-B8FB094F17FA}"/>
              </a:ext>
            </a:extLst>
          </p:cNvPr>
          <p:cNvPicPr>
            <a:picLocks noChangeAspect="1"/>
          </p:cNvPicPr>
          <p:nvPr/>
        </p:nvPicPr>
        <p:blipFill>
          <a:blip r:embed="rId6"/>
          <a:stretch>
            <a:fillRect/>
          </a:stretch>
        </p:blipFill>
        <p:spPr>
          <a:xfrm>
            <a:off x="1905000" y="3688875"/>
            <a:ext cx="2895600" cy="2324100"/>
          </a:xfrm>
          <a:prstGeom prst="rect">
            <a:avLst/>
          </a:prstGeom>
        </p:spPr>
      </p:pic>
      <p:sp>
        <p:nvSpPr>
          <p:cNvPr id="12" name="CuadroTexto 11">
            <a:extLst>
              <a:ext uri="{FF2B5EF4-FFF2-40B4-BE49-F238E27FC236}">
                <a16:creationId xmlns:a16="http://schemas.microsoft.com/office/drawing/2014/main" id="{8D0E3C3C-1856-0F62-D328-E6ED0AAD4322}"/>
              </a:ext>
            </a:extLst>
          </p:cNvPr>
          <p:cNvSpPr txBox="1"/>
          <p:nvPr/>
        </p:nvSpPr>
        <p:spPr>
          <a:xfrm>
            <a:off x="2006600" y="3131304"/>
            <a:ext cx="2514600" cy="369332"/>
          </a:xfrm>
          <a:prstGeom prst="rect">
            <a:avLst/>
          </a:prstGeom>
          <a:noFill/>
        </p:spPr>
        <p:txBody>
          <a:bodyPr wrap="square" rtlCol="0">
            <a:spAutoFit/>
          </a:bodyPr>
          <a:lstStyle/>
          <a:p>
            <a:pPr algn="ctr"/>
            <a:r>
              <a:rPr lang="es-ES" dirty="0"/>
              <a:t>Figura 21</a:t>
            </a:r>
          </a:p>
        </p:txBody>
      </p:sp>
      <p:sp>
        <p:nvSpPr>
          <p:cNvPr id="13" name="CuadroTexto 12">
            <a:extLst>
              <a:ext uri="{FF2B5EF4-FFF2-40B4-BE49-F238E27FC236}">
                <a16:creationId xmlns:a16="http://schemas.microsoft.com/office/drawing/2014/main" id="{2EF7C923-71F2-14AD-A817-D4D6BDC632CD}"/>
              </a:ext>
            </a:extLst>
          </p:cNvPr>
          <p:cNvSpPr txBox="1"/>
          <p:nvPr/>
        </p:nvSpPr>
        <p:spPr>
          <a:xfrm>
            <a:off x="2095500" y="6117464"/>
            <a:ext cx="2514600" cy="369332"/>
          </a:xfrm>
          <a:prstGeom prst="rect">
            <a:avLst/>
          </a:prstGeom>
          <a:noFill/>
        </p:spPr>
        <p:txBody>
          <a:bodyPr wrap="square" rtlCol="0">
            <a:spAutoFit/>
          </a:bodyPr>
          <a:lstStyle/>
          <a:p>
            <a:pPr algn="ctr"/>
            <a:r>
              <a:rPr lang="es-ES" dirty="0"/>
              <a:t>Figura 22</a:t>
            </a:r>
          </a:p>
        </p:txBody>
      </p:sp>
      <p:sp>
        <p:nvSpPr>
          <p:cNvPr id="14" name="CuadroTexto 13">
            <a:extLst>
              <a:ext uri="{FF2B5EF4-FFF2-40B4-BE49-F238E27FC236}">
                <a16:creationId xmlns:a16="http://schemas.microsoft.com/office/drawing/2014/main" id="{B2FA3838-4830-A847-386E-FD4A8821F8DC}"/>
              </a:ext>
            </a:extLst>
          </p:cNvPr>
          <p:cNvSpPr txBox="1"/>
          <p:nvPr/>
        </p:nvSpPr>
        <p:spPr>
          <a:xfrm>
            <a:off x="6096000" y="1447800"/>
            <a:ext cx="5584210" cy="2292935"/>
          </a:xfrm>
          <a:prstGeom prst="rect">
            <a:avLst/>
          </a:prstGeom>
          <a:noFill/>
        </p:spPr>
        <p:txBody>
          <a:bodyPr wrap="square" rtlCol="0">
            <a:spAutoFit/>
          </a:bodyPr>
          <a:lstStyle/>
          <a:p>
            <a:pPr algn="just"/>
            <a:r>
              <a:rPr lang="es-ES" sz="1300" dirty="0">
                <a:latin typeface="Arial" panose="020B0604020202020204" pitchFamily="34" charset="0"/>
                <a:cs typeface="Arial" panose="020B0604020202020204" pitchFamily="34" charset="0"/>
              </a:rPr>
              <a:t>Para el proceso de optimización hemos modificado la posición de las guías y reajustado la longitud con el objetivo de reducir las pérdidas y mejorar el balance de potencia.</a:t>
            </a:r>
          </a:p>
          <a:p>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Atendiendo a los parámetros de la figura 22 podemos ver como las pérdidas se han visto reducidas de  0’4217db a 0’3861db, el reparto de potencia a la salida también se encuentra más cerca de ser 50/50, a uno de los puertos llega el 50’62% de la potencia, mientras que al otro el 49’38% restante. Viendo estos resultados podemos decir que las modificaciones realizadas han optimizado correctamente el modelo, aunque de forma ligera.</a:t>
            </a:r>
          </a:p>
        </p:txBody>
      </p:sp>
    </p:spTree>
    <p:extLst>
      <p:ext uri="{BB962C8B-B14F-4D97-AF65-F5344CB8AC3E}">
        <p14:creationId xmlns:p14="http://schemas.microsoft.com/office/powerpoint/2010/main" val="2685215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5" name="Imagen 4">
            <a:extLst>
              <a:ext uri="{FF2B5EF4-FFF2-40B4-BE49-F238E27FC236}">
                <a16:creationId xmlns:a16="http://schemas.microsoft.com/office/drawing/2014/main" id="{E0060964-8E04-9C10-17A7-5C23B982C595}"/>
              </a:ext>
            </a:extLst>
          </p:cNvPr>
          <p:cNvPicPr>
            <a:picLocks noChangeAspect="1"/>
          </p:cNvPicPr>
          <p:nvPr/>
        </p:nvPicPr>
        <p:blipFill>
          <a:blip r:embed="rId5"/>
          <a:stretch>
            <a:fillRect/>
          </a:stretch>
        </p:blipFill>
        <p:spPr>
          <a:xfrm>
            <a:off x="863598" y="1268601"/>
            <a:ext cx="4724400" cy="1974124"/>
          </a:xfrm>
          <a:prstGeom prst="rect">
            <a:avLst/>
          </a:prstGeom>
        </p:spPr>
      </p:pic>
      <p:sp>
        <p:nvSpPr>
          <p:cNvPr id="6" name="CuadroTexto 5">
            <a:extLst>
              <a:ext uri="{FF2B5EF4-FFF2-40B4-BE49-F238E27FC236}">
                <a16:creationId xmlns:a16="http://schemas.microsoft.com/office/drawing/2014/main" id="{5C52021C-CD69-51E6-381C-A988AECBD560}"/>
              </a:ext>
            </a:extLst>
          </p:cNvPr>
          <p:cNvSpPr txBox="1"/>
          <p:nvPr/>
        </p:nvSpPr>
        <p:spPr>
          <a:xfrm>
            <a:off x="2095500" y="3145323"/>
            <a:ext cx="2514600" cy="369332"/>
          </a:xfrm>
          <a:prstGeom prst="rect">
            <a:avLst/>
          </a:prstGeom>
          <a:noFill/>
        </p:spPr>
        <p:txBody>
          <a:bodyPr wrap="square" rtlCol="0">
            <a:spAutoFit/>
          </a:bodyPr>
          <a:lstStyle/>
          <a:p>
            <a:pPr algn="ctr"/>
            <a:r>
              <a:rPr lang="es-ES" dirty="0"/>
              <a:t>Figura 23</a:t>
            </a:r>
          </a:p>
        </p:txBody>
      </p:sp>
      <p:pic>
        <p:nvPicPr>
          <p:cNvPr id="10" name="Imagen 9">
            <a:extLst>
              <a:ext uri="{FF2B5EF4-FFF2-40B4-BE49-F238E27FC236}">
                <a16:creationId xmlns:a16="http://schemas.microsoft.com/office/drawing/2014/main" id="{B7B167E8-2C99-0634-FA7C-D04D11408699}"/>
              </a:ext>
            </a:extLst>
          </p:cNvPr>
          <p:cNvPicPr>
            <a:picLocks noChangeAspect="1"/>
          </p:cNvPicPr>
          <p:nvPr/>
        </p:nvPicPr>
        <p:blipFill>
          <a:blip r:embed="rId6"/>
          <a:stretch>
            <a:fillRect/>
          </a:stretch>
        </p:blipFill>
        <p:spPr>
          <a:xfrm>
            <a:off x="1900237" y="3721178"/>
            <a:ext cx="2905125" cy="2257425"/>
          </a:xfrm>
          <a:prstGeom prst="rect">
            <a:avLst/>
          </a:prstGeom>
        </p:spPr>
      </p:pic>
      <p:sp>
        <p:nvSpPr>
          <p:cNvPr id="13" name="CuadroTexto 12">
            <a:extLst>
              <a:ext uri="{FF2B5EF4-FFF2-40B4-BE49-F238E27FC236}">
                <a16:creationId xmlns:a16="http://schemas.microsoft.com/office/drawing/2014/main" id="{4787B04E-8CD5-C916-11F7-6B634D8EDF0D}"/>
              </a:ext>
            </a:extLst>
          </p:cNvPr>
          <p:cNvSpPr txBox="1"/>
          <p:nvPr/>
        </p:nvSpPr>
        <p:spPr>
          <a:xfrm>
            <a:off x="2095499" y="5989314"/>
            <a:ext cx="2514600" cy="369332"/>
          </a:xfrm>
          <a:prstGeom prst="rect">
            <a:avLst/>
          </a:prstGeom>
          <a:noFill/>
        </p:spPr>
        <p:txBody>
          <a:bodyPr wrap="square" rtlCol="0">
            <a:spAutoFit/>
          </a:bodyPr>
          <a:lstStyle/>
          <a:p>
            <a:pPr algn="ctr"/>
            <a:r>
              <a:rPr lang="es-ES" dirty="0"/>
              <a:t>Figura 24</a:t>
            </a:r>
          </a:p>
        </p:txBody>
      </p:sp>
      <p:sp>
        <p:nvSpPr>
          <p:cNvPr id="14" name="CuadroTexto 13">
            <a:extLst>
              <a:ext uri="{FF2B5EF4-FFF2-40B4-BE49-F238E27FC236}">
                <a16:creationId xmlns:a16="http://schemas.microsoft.com/office/drawing/2014/main" id="{5730ACA1-A491-44E5-4768-453262E016ED}"/>
              </a:ext>
            </a:extLst>
          </p:cNvPr>
          <p:cNvSpPr txBox="1"/>
          <p:nvPr/>
        </p:nvSpPr>
        <p:spPr>
          <a:xfrm>
            <a:off x="6324600" y="1447800"/>
            <a:ext cx="5355610" cy="2492990"/>
          </a:xfrm>
          <a:prstGeom prst="rect">
            <a:avLst/>
          </a:prstGeom>
          <a:noFill/>
        </p:spPr>
        <p:txBody>
          <a:bodyPr wrap="square" rtlCol="0">
            <a:spAutoFit/>
          </a:bodyPr>
          <a:lstStyle/>
          <a:p>
            <a:pPr algn="just"/>
            <a:r>
              <a:rPr lang="es-ES" sz="1300" dirty="0">
                <a:latin typeface="Arial" panose="020B0604020202020204" pitchFamily="34" charset="0"/>
                <a:cs typeface="Arial" panose="020B0604020202020204" pitchFamily="34" charset="0"/>
              </a:rPr>
              <a:t>Volvemos a realizar un proceso de optimización, en esta ocasión hemos aumentado el ancho de las guías y el ajuste de longitud, también hemos modificado el ajuste de posición. Gracias a estos cambios hemos conseguido una gran optimización reduciendo las pérdidas de manera considerable y un buen balance en el reparto de potencia a la salida.</a:t>
            </a:r>
          </a:p>
          <a:p>
            <a:pPr algn="just"/>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Se nos han quedado unas pérdidas de 0’0841 </a:t>
            </a:r>
            <a:r>
              <a:rPr lang="es-ES" sz="1300" dirty="0" err="1">
                <a:latin typeface="Arial" panose="020B0604020202020204" pitchFamily="34" charset="0"/>
                <a:cs typeface="Arial" panose="020B0604020202020204" pitchFamily="34" charset="0"/>
              </a:rPr>
              <a:t>db</a:t>
            </a:r>
            <a:r>
              <a:rPr lang="es-ES" sz="1300" dirty="0">
                <a:latin typeface="Arial" panose="020B0604020202020204" pitchFamily="34" charset="0"/>
                <a:cs typeface="Arial" panose="020B0604020202020204" pitchFamily="34" charset="0"/>
              </a:rPr>
              <a:t> y un reparto de potencia del 50’89% en un puerto frente a un 49’11% del otro puerto.</a:t>
            </a:r>
          </a:p>
          <a:p>
            <a:pPr algn="just"/>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Aumentar el ancho nominal de la guía de onda de entrada/salida reduce considerablemente las pérdidas debido a la mejora del acoplo.</a:t>
            </a:r>
          </a:p>
        </p:txBody>
      </p:sp>
    </p:spTree>
    <p:extLst>
      <p:ext uri="{BB962C8B-B14F-4D97-AF65-F5344CB8AC3E}">
        <p14:creationId xmlns:p14="http://schemas.microsoft.com/office/powerpoint/2010/main" val="1023731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b="0" dirty="0" err="1"/>
              <a:t>wMMI</a:t>
            </a:r>
            <a:r>
              <a:rPr lang="en-US" b="0" dirty="0"/>
              <a:t> = 12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5" name="Imagen 4">
            <a:extLst>
              <a:ext uri="{FF2B5EF4-FFF2-40B4-BE49-F238E27FC236}">
                <a16:creationId xmlns:a16="http://schemas.microsoft.com/office/drawing/2014/main" id="{10E1C00C-480F-2C3A-F7BE-BF1C599FA2E2}"/>
              </a:ext>
            </a:extLst>
          </p:cNvPr>
          <p:cNvPicPr>
            <a:picLocks noChangeAspect="1"/>
          </p:cNvPicPr>
          <p:nvPr/>
        </p:nvPicPr>
        <p:blipFill>
          <a:blip r:embed="rId5"/>
          <a:stretch>
            <a:fillRect/>
          </a:stretch>
        </p:blipFill>
        <p:spPr>
          <a:xfrm>
            <a:off x="1219200" y="1371600"/>
            <a:ext cx="4267200" cy="1946442"/>
          </a:xfrm>
          <a:prstGeom prst="rect">
            <a:avLst/>
          </a:prstGeom>
        </p:spPr>
      </p:pic>
      <p:pic>
        <p:nvPicPr>
          <p:cNvPr id="9" name="Imagen 8">
            <a:extLst>
              <a:ext uri="{FF2B5EF4-FFF2-40B4-BE49-F238E27FC236}">
                <a16:creationId xmlns:a16="http://schemas.microsoft.com/office/drawing/2014/main" id="{CA835754-0AE6-89A0-456D-ADB11415B1C9}"/>
              </a:ext>
            </a:extLst>
          </p:cNvPr>
          <p:cNvPicPr>
            <a:picLocks noChangeAspect="1"/>
          </p:cNvPicPr>
          <p:nvPr/>
        </p:nvPicPr>
        <p:blipFill>
          <a:blip r:embed="rId6"/>
          <a:stretch>
            <a:fillRect/>
          </a:stretch>
        </p:blipFill>
        <p:spPr>
          <a:xfrm>
            <a:off x="1371600" y="3739787"/>
            <a:ext cx="4552950" cy="2295525"/>
          </a:xfrm>
          <a:prstGeom prst="rect">
            <a:avLst/>
          </a:prstGeom>
        </p:spPr>
      </p:pic>
      <p:sp>
        <p:nvSpPr>
          <p:cNvPr id="10" name="CuadroTexto 9">
            <a:extLst>
              <a:ext uri="{FF2B5EF4-FFF2-40B4-BE49-F238E27FC236}">
                <a16:creationId xmlns:a16="http://schemas.microsoft.com/office/drawing/2014/main" id="{B982A9BA-80B1-E8D6-1437-85D5CCAD8DAC}"/>
              </a:ext>
            </a:extLst>
          </p:cNvPr>
          <p:cNvSpPr txBox="1"/>
          <p:nvPr/>
        </p:nvSpPr>
        <p:spPr>
          <a:xfrm>
            <a:off x="2390775" y="3208918"/>
            <a:ext cx="2514600" cy="369332"/>
          </a:xfrm>
          <a:prstGeom prst="rect">
            <a:avLst/>
          </a:prstGeom>
          <a:noFill/>
        </p:spPr>
        <p:txBody>
          <a:bodyPr wrap="square" rtlCol="0">
            <a:spAutoFit/>
          </a:bodyPr>
          <a:lstStyle/>
          <a:p>
            <a:pPr algn="ctr"/>
            <a:r>
              <a:rPr lang="es-ES" dirty="0"/>
              <a:t>Figura 25</a:t>
            </a:r>
          </a:p>
        </p:txBody>
      </p:sp>
      <p:sp>
        <p:nvSpPr>
          <p:cNvPr id="11" name="CuadroTexto 10">
            <a:extLst>
              <a:ext uri="{FF2B5EF4-FFF2-40B4-BE49-F238E27FC236}">
                <a16:creationId xmlns:a16="http://schemas.microsoft.com/office/drawing/2014/main" id="{7E38757C-FF13-7A6D-0C0E-09CD6C2C82FB}"/>
              </a:ext>
            </a:extLst>
          </p:cNvPr>
          <p:cNvSpPr txBox="1"/>
          <p:nvPr/>
        </p:nvSpPr>
        <p:spPr>
          <a:xfrm>
            <a:off x="2390775" y="6051931"/>
            <a:ext cx="2514600" cy="369332"/>
          </a:xfrm>
          <a:prstGeom prst="rect">
            <a:avLst/>
          </a:prstGeom>
          <a:noFill/>
        </p:spPr>
        <p:txBody>
          <a:bodyPr wrap="square" rtlCol="0">
            <a:spAutoFit/>
          </a:bodyPr>
          <a:lstStyle/>
          <a:p>
            <a:pPr algn="ctr"/>
            <a:r>
              <a:rPr lang="es-ES" dirty="0"/>
              <a:t>Figura 26</a:t>
            </a:r>
          </a:p>
        </p:txBody>
      </p:sp>
      <p:sp>
        <p:nvSpPr>
          <p:cNvPr id="12" name="CuadroTexto 11">
            <a:extLst>
              <a:ext uri="{FF2B5EF4-FFF2-40B4-BE49-F238E27FC236}">
                <a16:creationId xmlns:a16="http://schemas.microsoft.com/office/drawing/2014/main" id="{95B00110-A79F-F755-891D-A58CBC680468}"/>
              </a:ext>
            </a:extLst>
          </p:cNvPr>
          <p:cNvSpPr txBox="1"/>
          <p:nvPr/>
        </p:nvSpPr>
        <p:spPr>
          <a:xfrm>
            <a:off x="6404590" y="871149"/>
            <a:ext cx="5127010" cy="5324535"/>
          </a:xfrm>
          <a:prstGeom prst="rect">
            <a:avLst/>
          </a:prstGeom>
          <a:noFill/>
        </p:spPr>
        <p:txBody>
          <a:bodyPr wrap="square" rtlCol="0">
            <a:spAutoFit/>
          </a:bodyPr>
          <a:lstStyle/>
          <a:p>
            <a:pPr algn="just"/>
            <a:r>
              <a:rPr lang="es-ES" sz="1300" dirty="0">
                <a:latin typeface="Arial" panose="020B0604020202020204" pitchFamily="34" charset="0"/>
                <a:cs typeface="Arial" panose="020B0604020202020204" pitchFamily="34" charset="0"/>
              </a:rPr>
              <a:t>En esta ocasión, el diseño se realiza para un acoplador MMI de una entrada y cuatro salidas como se puede apreciar en la figura 25.</a:t>
            </a:r>
          </a:p>
          <a:p>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En primer lugar, hemos aumentado el ancho a 12 </a:t>
            </a:r>
            <a:r>
              <a:rPr lang="es-ES" sz="1300" dirty="0" err="1">
                <a:latin typeface="Arial" panose="020B0604020202020204" pitchFamily="34" charset="0"/>
                <a:cs typeface="Arial" panose="020B0604020202020204" pitchFamily="34" charset="0"/>
              </a:rPr>
              <a:t>um</a:t>
            </a:r>
            <a:r>
              <a:rPr lang="es-ES" sz="1300" dirty="0">
                <a:latin typeface="Arial" panose="020B0604020202020204" pitchFamily="34" charset="0"/>
                <a:cs typeface="Arial" panose="020B0604020202020204" pitchFamily="34" charset="0"/>
              </a:rPr>
              <a:t> para que haya suficiente espacio para las 4 salidas y evitar solapamientos, también hemos aumentado ligeramente el ancho de las guías, lo que debería de reducir pérdidas. </a:t>
            </a:r>
          </a:p>
          <a:p>
            <a:pPr algn="just"/>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En segundo lugar, reajustamos la configuración del MMI a 1x4</a:t>
            </a:r>
          </a:p>
          <a:p>
            <a:pPr algn="just"/>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A continuación, ajustamos la posición de las 4 guías buscando optimizar el balance de potencias y minimizar pérdidas.</a:t>
            </a:r>
          </a:p>
          <a:p>
            <a:pPr algn="just"/>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Finalmente, aplicamos la fórmula de la longitud dependiente de L</a:t>
            </a:r>
            <a:r>
              <a:rPr lang="el-GR" sz="1300" i="0" dirty="0">
                <a:solidFill>
                  <a:schemeClr val="tx1"/>
                </a:solidFill>
                <a:effectLst/>
                <a:highlight>
                  <a:srgbClr val="FFFFFF"/>
                </a:highlight>
                <a:latin typeface="Arial" panose="020B0604020202020204" pitchFamily="34" charset="0"/>
                <a:cs typeface="Arial" panose="020B0604020202020204" pitchFamily="34" charset="0"/>
              </a:rPr>
              <a:t>π</a:t>
            </a:r>
            <a:r>
              <a:rPr lang="es-ES" sz="1300" i="0" dirty="0">
                <a:solidFill>
                  <a:schemeClr val="tx1"/>
                </a:solidFill>
                <a:effectLst/>
                <a:highlight>
                  <a:srgbClr val="FFFFFF"/>
                </a:highlight>
                <a:latin typeface="Arial" panose="020B0604020202020204" pitchFamily="34" charset="0"/>
                <a:cs typeface="Arial" panose="020B0604020202020204" pitchFamily="34" charset="0"/>
              </a:rPr>
              <a:t> para el caso pertinente, como tenemos 4 salidas y consideramos la interferencia simétrica se nos queda la siguiente expresión:</a:t>
            </a:r>
          </a:p>
          <a:p>
            <a:pPr algn="just"/>
            <a:r>
              <a:rPr lang="es-ES" sz="1300" i="0" dirty="0">
                <a:solidFill>
                  <a:schemeClr val="tx1"/>
                </a:solidFill>
                <a:effectLst/>
                <a:highlight>
                  <a:srgbClr val="FFFFFF"/>
                </a:highlight>
                <a:latin typeface="Arial" panose="020B0604020202020204" pitchFamily="34" charset="0"/>
                <a:cs typeface="Arial" panose="020B0604020202020204" pitchFamily="34" charset="0"/>
              </a:rPr>
              <a:t> </a:t>
            </a:r>
          </a:p>
          <a:p>
            <a:pPr algn="ctr"/>
            <a:r>
              <a:rPr lang="it-IT" sz="1400" b="0" dirty="0">
                <a:effectLst/>
                <a:latin typeface="Consolas" panose="020B0609020204030204" pitchFamily="49" charset="0"/>
              </a:rPr>
              <a:t>m.L_MMI = (3* L_pi)/ (4*4)</a:t>
            </a:r>
          </a:p>
          <a:p>
            <a:pPr algn="just"/>
            <a:endParaRPr lang="it-IT" sz="1400" b="0" dirty="0">
              <a:effectLst/>
              <a:latin typeface="Consolas" panose="020B0609020204030204" pitchFamily="49" charset="0"/>
            </a:endParaRPr>
          </a:p>
          <a:p>
            <a:pPr algn="just"/>
            <a:r>
              <a:rPr lang="es-ES" sz="1300" dirty="0">
                <a:latin typeface="Arial" panose="020B0604020202020204" pitchFamily="34" charset="0"/>
                <a:cs typeface="Arial" panose="020B0604020202020204" pitchFamily="34" charset="0"/>
              </a:rPr>
              <a:t>Aplicamos un reajuste a la longitud que nos ha salido de forma teórica para optimizar los resultados experimentales.</a:t>
            </a:r>
          </a:p>
          <a:p>
            <a:pPr algn="just"/>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Hemos obtenido unas pérdidas de 0’0807 </a:t>
            </a:r>
            <a:r>
              <a:rPr lang="es-ES" sz="1300" dirty="0" err="1">
                <a:latin typeface="Arial" panose="020B0604020202020204" pitchFamily="34" charset="0"/>
                <a:cs typeface="Arial" panose="020B0604020202020204" pitchFamily="34" charset="0"/>
              </a:rPr>
              <a:t>db</a:t>
            </a:r>
            <a:r>
              <a:rPr lang="es-ES" sz="1300" dirty="0">
                <a:latin typeface="Arial" panose="020B0604020202020204" pitchFamily="34" charset="0"/>
                <a:cs typeface="Arial" panose="020B0604020202020204" pitchFamily="34" charset="0"/>
              </a:rPr>
              <a:t> y el reparto de potencias entre las salidas ha sido el siguiente: [24’35%; 25’65%;  25’66%; 24’34%] tal y como aparece en la figura 26.</a:t>
            </a:r>
          </a:p>
        </p:txBody>
      </p:sp>
    </p:spTree>
    <p:extLst>
      <p:ext uri="{BB962C8B-B14F-4D97-AF65-F5344CB8AC3E}">
        <p14:creationId xmlns:p14="http://schemas.microsoft.com/office/powerpoint/2010/main" val="699864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10" name="Imagen 9">
            <a:extLst>
              <a:ext uri="{FF2B5EF4-FFF2-40B4-BE49-F238E27FC236}">
                <a16:creationId xmlns:a16="http://schemas.microsoft.com/office/drawing/2014/main" id="{56311C1C-E9DC-BB6E-BDFD-5952D6CEF5A8}"/>
              </a:ext>
            </a:extLst>
          </p:cNvPr>
          <p:cNvPicPr>
            <a:picLocks noChangeAspect="1"/>
          </p:cNvPicPr>
          <p:nvPr/>
        </p:nvPicPr>
        <p:blipFill>
          <a:blip r:embed="rId5"/>
          <a:stretch>
            <a:fillRect/>
          </a:stretch>
        </p:blipFill>
        <p:spPr>
          <a:xfrm>
            <a:off x="1371601" y="1176892"/>
            <a:ext cx="3962400" cy="2772805"/>
          </a:xfrm>
          <a:prstGeom prst="rect">
            <a:avLst/>
          </a:prstGeom>
        </p:spPr>
      </p:pic>
      <p:pic>
        <p:nvPicPr>
          <p:cNvPr id="12" name="Imagen 11">
            <a:extLst>
              <a:ext uri="{FF2B5EF4-FFF2-40B4-BE49-F238E27FC236}">
                <a16:creationId xmlns:a16="http://schemas.microsoft.com/office/drawing/2014/main" id="{9C602F49-3A1E-7D29-A53A-385ED7623E74}"/>
              </a:ext>
            </a:extLst>
          </p:cNvPr>
          <p:cNvPicPr>
            <a:picLocks noChangeAspect="1"/>
          </p:cNvPicPr>
          <p:nvPr/>
        </p:nvPicPr>
        <p:blipFill>
          <a:blip r:embed="rId6"/>
          <a:stretch>
            <a:fillRect/>
          </a:stretch>
        </p:blipFill>
        <p:spPr>
          <a:xfrm>
            <a:off x="6816273" y="1176892"/>
            <a:ext cx="3991426" cy="2772805"/>
          </a:xfrm>
          <a:prstGeom prst="rect">
            <a:avLst/>
          </a:prstGeom>
        </p:spPr>
      </p:pic>
      <p:sp>
        <p:nvSpPr>
          <p:cNvPr id="13" name="CuadroTexto 12">
            <a:extLst>
              <a:ext uri="{FF2B5EF4-FFF2-40B4-BE49-F238E27FC236}">
                <a16:creationId xmlns:a16="http://schemas.microsoft.com/office/drawing/2014/main" id="{1AA01B05-E8A9-A783-9271-72EA5A142A52}"/>
              </a:ext>
            </a:extLst>
          </p:cNvPr>
          <p:cNvSpPr txBox="1"/>
          <p:nvPr/>
        </p:nvSpPr>
        <p:spPr>
          <a:xfrm>
            <a:off x="609600" y="4380274"/>
            <a:ext cx="11070610" cy="1892826"/>
          </a:xfrm>
          <a:prstGeom prst="rect">
            <a:avLst/>
          </a:prstGeom>
          <a:noFill/>
        </p:spPr>
        <p:txBody>
          <a:bodyPr wrap="square" rtlCol="0">
            <a:spAutoFit/>
          </a:bodyPr>
          <a:lstStyle/>
          <a:p>
            <a:pPr algn="just"/>
            <a:r>
              <a:rPr lang="es-ES" sz="1300" dirty="0">
                <a:latin typeface="Arial" panose="020B0604020202020204" pitchFamily="34" charset="0"/>
                <a:cs typeface="Arial" panose="020B0604020202020204" pitchFamily="34" charset="0"/>
              </a:rPr>
              <a:t>En ambas gráficas se puede apreciar como el aumento de la </a:t>
            </a:r>
            <a:r>
              <a:rPr lang="es-ES" sz="1300" dirty="0" err="1">
                <a:latin typeface="Arial" panose="020B0604020202020204" pitchFamily="34" charset="0"/>
                <a:cs typeface="Arial" panose="020B0604020202020204" pitchFamily="34" charset="0"/>
              </a:rPr>
              <a:t>Lpi</a:t>
            </a:r>
            <a:r>
              <a:rPr lang="es-ES" sz="1300" dirty="0">
                <a:latin typeface="Arial" panose="020B0604020202020204" pitchFamily="34" charset="0"/>
                <a:cs typeface="Arial" panose="020B0604020202020204" pitchFamily="34" charset="0"/>
              </a:rPr>
              <a:t> es directamente proporcional al aumento del gap, este fenómeno es lógico dado que cuanto mayor sea la separación entre guías menor será el acoplamiento y más longitud se necesitará para transferir la potencia al completo.</a:t>
            </a:r>
          </a:p>
          <a:p>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En la guía Deep la luz está más confinada, luego es lógico pensar que le cueste más transferir la potencia de una guía a otra y que, por ello, necesite una mayor longitud (</a:t>
            </a:r>
            <a:r>
              <a:rPr lang="es-ES" sz="1300" dirty="0" err="1">
                <a:latin typeface="Arial" panose="020B0604020202020204" pitchFamily="34" charset="0"/>
                <a:cs typeface="Arial" panose="020B0604020202020204" pitchFamily="34" charset="0"/>
              </a:rPr>
              <a:t>Lpi</a:t>
            </a:r>
            <a:r>
              <a:rPr lang="es-ES" sz="1300" dirty="0">
                <a:latin typeface="Arial" panose="020B0604020202020204" pitchFamily="34" charset="0"/>
                <a:cs typeface="Arial" panose="020B0604020202020204" pitchFamily="34" charset="0"/>
              </a:rPr>
              <a:t>) que la </a:t>
            </a:r>
            <a:r>
              <a:rPr lang="es-ES" sz="1300" dirty="0" err="1">
                <a:latin typeface="Arial" panose="020B0604020202020204" pitchFamily="34" charset="0"/>
                <a:cs typeface="Arial" panose="020B0604020202020204" pitchFamily="34" charset="0"/>
              </a:rPr>
              <a:t>shallow</a:t>
            </a:r>
            <a:r>
              <a:rPr lang="es-ES" sz="1300" dirty="0">
                <a:latin typeface="Arial" panose="020B0604020202020204" pitchFamily="34" charset="0"/>
                <a:cs typeface="Arial" panose="020B0604020202020204" pitchFamily="34" charset="0"/>
              </a:rPr>
              <a:t> para el mismo gap, es por esto que apreciamos una mayor pendiente para la guía Deep que para la </a:t>
            </a:r>
            <a:r>
              <a:rPr lang="es-ES" sz="1300" dirty="0" err="1">
                <a:latin typeface="Arial" panose="020B0604020202020204" pitchFamily="34" charset="0"/>
                <a:cs typeface="Arial" panose="020B0604020202020204" pitchFamily="34" charset="0"/>
              </a:rPr>
              <a:t>shallow</a:t>
            </a:r>
            <a:r>
              <a:rPr lang="es-ES" sz="1300" dirty="0">
                <a:latin typeface="Arial" panose="020B0604020202020204" pitchFamily="34" charset="0"/>
                <a:cs typeface="Arial" panose="020B0604020202020204" pitchFamily="34" charset="0"/>
              </a:rPr>
              <a:t>.</a:t>
            </a:r>
          </a:p>
          <a:p>
            <a:pPr algn="just"/>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En la guía </a:t>
            </a:r>
            <a:r>
              <a:rPr lang="es-ES" sz="1300" dirty="0" err="1">
                <a:latin typeface="Arial" panose="020B0604020202020204" pitchFamily="34" charset="0"/>
                <a:cs typeface="Arial" panose="020B0604020202020204" pitchFamily="34" charset="0"/>
              </a:rPr>
              <a:t>shallow</a:t>
            </a:r>
            <a:r>
              <a:rPr lang="es-ES" sz="1300" dirty="0">
                <a:latin typeface="Arial" panose="020B0604020202020204" pitchFamily="34" charset="0"/>
                <a:cs typeface="Arial" panose="020B0604020202020204" pitchFamily="34" charset="0"/>
              </a:rPr>
              <a:t> apreciamos una peculiaridad, el modo TM parece crecer de forma lineal hasta que llega a un gap = 2’4 </a:t>
            </a:r>
            <a:r>
              <a:rPr lang="es-ES" sz="1300" dirty="0" err="1">
                <a:latin typeface="Arial" panose="020B0604020202020204" pitchFamily="34" charset="0"/>
                <a:cs typeface="Arial" panose="020B0604020202020204" pitchFamily="34" charset="0"/>
              </a:rPr>
              <a:t>um</a:t>
            </a:r>
            <a:r>
              <a:rPr lang="es-ES" sz="1300" dirty="0">
                <a:latin typeface="Arial" panose="020B0604020202020204" pitchFamily="34" charset="0"/>
                <a:cs typeface="Arial" panose="020B0604020202020204" pitchFamily="34" charset="0"/>
              </a:rPr>
              <a:t>, cuando llega a ese valor </a:t>
            </a:r>
            <a:r>
              <a:rPr lang="es-ES" sz="1300" dirty="0" err="1">
                <a:latin typeface="Arial" panose="020B0604020202020204" pitchFamily="34" charset="0"/>
                <a:cs typeface="Arial" panose="020B0604020202020204" pitchFamily="34" charset="0"/>
              </a:rPr>
              <a:t>Lpi</a:t>
            </a:r>
            <a:r>
              <a:rPr lang="es-ES" sz="1300" dirty="0">
                <a:latin typeface="Arial" panose="020B0604020202020204" pitchFamily="34" charset="0"/>
                <a:cs typeface="Arial" panose="020B0604020202020204" pitchFamily="34" charset="0"/>
              </a:rPr>
              <a:t> se dispara, demostrando que para esa distancia el acoplamiento es muy débil.</a:t>
            </a:r>
          </a:p>
        </p:txBody>
      </p:sp>
      <p:sp>
        <p:nvSpPr>
          <p:cNvPr id="14" name="CuadroTexto 13">
            <a:extLst>
              <a:ext uri="{FF2B5EF4-FFF2-40B4-BE49-F238E27FC236}">
                <a16:creationId xmlns:a16="http://schemas.microsoft.com/office/drawing/2014/main" id="{904A032B-923D-43D7-0588-83BFD5D2A17B}"/>
              </a:ext>
            </a:extLst>
          </p:cNvPr>
          <p:cNvSpPr txBox="1"/>
          <p:nvPr/>
        </p:nvSpPr>
        <p:spPr>
          <a:xfrm>
            <a:off x="2245520" y="3967690"/>
            <a:ext cx="2514600" cy="369332"/>
          </a:xfrm>
          <a:prstGeom prst="rect">
            <a:avLst/>
          </a:prstGeom>
          <a:noFill/>
        </p:spPr>
        <p:txBody>
          <a:bodyPr wrap="square" rtlCol="0">
            <a:spAutoFit/>
          </a:bodyPr>
          <a:lstStyle/>
          <a:p>
            <a:pPr algn="ctr"/>
            <a:r>
              <a:rPr lang="es-ES" dirty="0"/>
              <a:t>Figura 27</a:t>
            </a:r>
          </a:p>
        </p:txBody>
      </p:sp>
      <p:sp>
        <p:nvSpPr>
          <p:cNvPr id="15" name="CuadroTexto 14">
            <a:extLst>
              <a:ext uri="{FF2B5EF4-FFF2-40B4-BE49-F238E27FC236}">
                <a16:creationId xmlns:a16="http://schemas.microsoft.com/office/drawing/2014/main" id="{77112DC4-06CE-F648-132A-C58DBDB259B3}"/>
              </a:ext>
            </a:extLst>
          </p:cNvPr>
          <p:cNvSpPr txBox="1"/>
          <p:nvPr/>
        </p:nvSpPr>
        <p:spPr>
          <a:xfrm>
            <a:off x="7772400" y="3952934"/>
            <a:ext cx="2514600" cy="369332"/>
          </a:xfrm>
          <a:prstGeom prst="rect">
            <a:avLst/>
          </a:prstGeom>
          <a:noFill/>
        </p:spPr>
        <p:txBody>
          <a:bodyPr wrap="square" rtlCol="0">
            <a:spAutoFit/>
          </a:bodyPr>
          <a:lstStyle/>
          <a:p>
            <a:pPr algn="ctr"/>
            <a:r>
              <a:rPr lang="es-ES" dirty="0"/>
              <a:t>Figura 28</a:t>
            </a:r>
          </a:p>
        </p:txBody>
      </p:sp>
    </p:spTree>
    <p:extLst>
      <p:ext uri="{BB962C8B-B14F-4D97-AF65-F5344CB8AC3E}">
        <p14:creationId xmlns:p14="http://schemas.microsoft.com/office/powerpoint/2010/main" val="179796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10" name="Imagen 9">
            <a:extLst>
              <a:ext uri="{FF2B5EF4-FFF2-40B4-BE49-F238E27FC236}">
                <a16:creationId xmlns:a16="http://schemas.microsoft.com/office/drawing/2014/main" id="{DF9F803A-D3A2-34FE-AC91-7156D054478A}"/>
              </a:ext>
            </a:extLst>
          </p:cNvPr>
          <p:cNvPicPr>
            <a:picLocks noChangeAspect="1"/>
          </p:cNvPicPr>
          <p:nvPr/>
        </p:nvPicPr>
        <p:blipFill>
          <a:blip r:embed="rId5"/>
          <a:stretch>
            <a:fillRect/>
          </a:stretch>
        </p:blipFill>
        <p:spPr>
          <a:xfrm>
            <a:off x="1190625" y="1285875"/>
            <a:ext cx="4324350" cy="3019425"/>
          </a:xfrm>
          <a:prstGeom prst="rect">
            <a:avLst/>
          </a:prstGeom>
        </p:spPr>
      </p:pic>
      <p:pic>
        <p:nvPicPr>
          <p:cNvPr id="12" name="Imagen 11">
            <a:extLst>
              <a:ext uri="{FF2B5EF4-FFF2-40B4-BE49-F238E27FC236}">
                <a16:creationId xmlns:a16="http://schemas.microsoft.com/office/drawing/2014/main" id="{6F0FE1DA-CE91-05E2-D83D-BE9B1B0386AA}"/>
              </a:ext>
            </a:extLst>
          </p:cNvPr>
          <p:cNvPicPr>
            <a:picLocks noChangeAspect="1"/>
          </p:cNvPicPr>
          <p:nvPr/>
        </p:nvPicPr>
        <p:blipFill>
          <a:blip r:embed="rId6"/>
          <a:stretch>
            <a:fillRect/>
          </a:stretch>
        </p:blipFill>
        <p:spPr>
          <a:xfrm>
            <a:off x="6890048" y="1295400"/>
            <a:ext cx="4338026" cy="3006176"/>
          </a:xfrm>
          <a:prstGeom prst="rect">
            <a:avLst/>
          </a:prstGeom>
        </p:spPr>
      </p:pic>
      <p:sp>
        <p:nvSpPr>
          <p:cNvPr id="13" name="CuadroTexto 12">
            <a:extLst>
              <a:ext uri="{FF2B5EF4-FFF2-40B4-BE49-F238E27FC236}">
                <a16:creationId xmlns:a16="http://schemas.microsoft.com/office/drawing/2014/main" id="{85F53067-7848-04C0-9011-1856A5048799}"/>
              </a:ext>
            </a:extLst>
          </p:cNvPr>
          <p:cNvSpPr txBox="1"/>
          <p:nvPr/>
        </p:nvSpPr>
        <p:spPr>
          <a:xfrm>
            <a:off x="2095500" y="4305300"/>
            <a:ext cx="2514600" cy="369332"/>
          </a:xfrm>
          <a:prstGeom prst="rect">
            <a:avLst/>
          </a:prstGeom>
          <a:noFill/>
        </p:spPr>
        <p:txBody>
          <a:bodyPr wrap="square" rtlCol="0">
            <a:spAutoFit/>
          </a:bodyPr>
          <a:lstStyle/>
          <a:p>
            <a:pPr algn="ctr"/>
            <a:r>
              <a:rPr lang="es-ES" dirty="0"/>
              <a:t>Figura 29</a:t>
            </a:r>
          </a:p>
        </p:txBody>
      </p:sp>
      <p:sp>
        <p:nvSpPr>
          <p:cNvPr id="14" name="CuadroTexto 13">
            <a:extLst>
              <a:ext uri="{FF2B5EF4-FFF2-40B4-BE49-F238E27FC236}">
                <a16:creationId xmlns:a16="http://schemas.microsoft.com/office/drawing/2014/main" id="{23C9C531-9607-8ADC-CC71-E0AFD022E060}"/>
              </a:ext>
            </a:extLst>
          </p:cNvPr>
          <p:cNvSpPr txBox="1"/>
          <p:nvPr/>
        </p:nvSpPr>
        <p:spPr>
          <a:xfrm>
            <a:off x="8054340" y="4303185"/>
            <a:ext cx="2514600" cy="369332"/>
          </a:xfrm>
          <a:prstGeom prst="rect">
            <a:avLst/>
          </a:prstGeom>
          <a:noFill/>
        </p:spPr>
        <p:txBody>
          <a:bodyPr wrap="square" rtlCol="0">
            <a:spAutoFit/>
          </a:bodyPr>
          <a:lstStyle/>
          <a:p>
            <a:pPr algn="ctr"/>
            <a:r>
              <a:rPr lang="es-ES" dirty="0"/>
              <a:t>Figura 30</a:t>
            </a:r>
          </a:p>
        </p:txBody>
      </p:sp>
      <p:sp>
        <p:nvSpPr>
          <p:cNvPr id="15" name="CuadroTexto 14">
            <a:extLst>
              <a:ext uri="{FF2B5EF4-FFF2-40B4-BE49-F238E27FC236}">
                <a16:creationId xmlns:a16="http://schemas.microsoft.com/office/drawing/2014/main" id="{57662DA2-C766-5B84-3BAD-8572D2F72163}"/>
              </a:ext>
            </a:extLst>
          </p:cNvPr>
          <p:cNvSpPr txBox="1"/>
          <p:nvPr/>
        </p:nvSpPr>
        <p:spPr>
          <a:xfrm>
            <a:off x="609600" y="4915242"/>
            <a:ext cx="10768781" cy="892552"/>
          </a:xfrm>
          <a:prstGeom prst="rect">
            <a:avLst/>
          </a:prstGeom>
          <a:noFill/>
        </p:spPr>
        <p:txBody>
          <a:bodyPr wrap="square" rtlCol="0">
            <a:spAutoFit/>
          </a:bodyPr>
          <a:lstStyle/>
          <a:p>
            <a:r>
              <a:rPr lang="es-ES" sz="1300" dirty="0">
                <a:latin typeface="Arial" panose="020B0604020202020204" pitchFamily="34" charset="0"/>
                <a:cs typeface="Arial" panose="020B0604020202020204" pitchFamily="34" charset="0"/>
              </a:rPr>
              <a:t>En la gráfica de la figura 29 se aprecia como la </a:t>
            </a:r>
            <a:r>
              <a:rPr lang="es-ES" sz="1300" dirty="0" err="1">
                <a:latin typeface="Arial" panose="020B0604020202020204" pitchFamily="34" charset="0"/>
                <a:cs typeface="Arial" panose="020B0604020202020204" pitchFamily="34" charset="0"/>
              </a:rPr>
              <a:t>Lpi</a:t>
            </a:r>
            <a:r>
              <a:rPr lang="es-ES" sz="1300" dirty="0">
                <a:latin typeface="Arial" panose="020B0604020202020204" pitchFamily="34" charset="0"/>
                <a:cs typeface="Arial" panose="020B0604020202020204" pitchFamily="34" charset="0"/>
              </a:rPr>
              <a:t> disminuye conforme aumenta la longitud de onda, es lógico pensar que según aumenta la longitud de onda la luz está menos confinada y sea menos costoso el proceso de transferencia de la luz. Podemos ver también que el modo TE es más sensible a los cambios de longitud de onda que el TM.</a:t>
            </a:r>
          </a:p>
          <a:p>
            <a:endParaRPr lang="es-ES" sz="13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3558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1DE103-BF7C-475E-5065-EB32ACC8344B}"/>
              </a:ext>
            </a:extLst>
          </p:cNvPr>
          <p:cNvSpPr>
            <a:spLocks noGrp="1"/>
          </p:cNvSpPr>
          <p:nvPr>
            <p:ph type="title"/>
          </p:nvPr>
        </p:nvSpPr>
        <p:spPr>
          <a:xfrm>
            <a:off x="590550" y="206752"/>
            <a:ext cx="10991850" cy="692497"/>
          </a:xfrm>
        </p:spPr>
        <p:txBody>
          <a:bodyPr/>
          <a:lstStyle/>
          <a:p>
            <a:r>
              <a:rPr lang="en-US" sz="2500" dirty="0"/>
              <a:t>Extra #2 – Directional wavelength dependence</a:t>
            </a:r>
            <a:br>
              <a:rPr lang="en-US" sz="2500" dirty="0"/>
            </a:br>
            <a:r>
              <a:rPr lang="en-US" b="0" dirty="0"/>
              <a:t>Wavelengths </a:t>
            </a:r>
            <a:r>
              <a:rPr lang="en-US" dirty="0"/>
              <a:t>from 1.5 to 1.7 µm</a:t>
            </a:r>
            <a:r>
              <a:rPr lang="en-US" b="0" dirty="0"/>
              <a:t>, gap = 0.6 µm, width 1.0 µm</a:t>
            </a:r>
            <a:endParaRPr lang="es-ES" dirty="0"/>
          </a:p>
        </p:txBody>
      </p:sp>
      <p:sp>
        <p:nvSpPr>
          <p:cNvPr id="3" name="Marcador de texto 2">
            <a:extLst>
              <a:ext uri="{FF2B5EF4-FFF2-40B4-BE49-F238E27FC236}">
                <a16:creationId xmlns:a16="http://schemas.microsoft.com/office/drawing/2014/main" id="{A806268C-B81A-1105-ED5A-AEFD97ADC58E}"/>
              </a:ext>
            </a:extLst>
          </p:cNvPr>
          <p:cNvSpPr>
            <a:spLocks noGrp="1"/>
          </p:cNvSpPr>
          <p:nvPr>
            <p:ph type="body" idx="1"/>
          </p:nvPr>
        </p:nvSpPr>
        <p:spPr>
          <a:xfrm>
            <a:off x="609600" y="1066800"/>
            <a:ext cx="10972800" cy="5311140"/>
          </a:xfrm>
        </p:spPr>
        <p:txBody>
          <a:bodyPr/>
          <a:lstStyle/>
          <a:p>
            <a:pPr algn="just"/>
            <a:r>
              <a:rPr lang="es-ES" sz="1300" dirty="0">
                <a:solidFill>
                  <a:schemeClr val="tx1"/>
                </a:solidFill>
                <a:latin typeface="Arial" panose="020B0604020202020204" pitchFamily="34" charset="0"/>
                <a:cs typeface="Arial" panose="020B0604020202020204" pitchFamily="34" charset="0"/>
              </a:rPr>
              <a:t>Para la guía </a:t>
            </a:r>
            <a:r>
              <a:rPr lang="es-ES" sz="1300" dirty="0" err="1">
                <a:solidFill>
                  <a:schemeClr val="tx1"/>
                </a:solidFill>
                <a:latin typeface="Arial" panose="020B0604020202020204" pitchFamily="34" charset="0"/>
                <a:cs typeface="Arial" panose="020B0604020202020204" pitchFamily="34" charset="0"/>
              </a:rPr>
              <a:t>shallow</a:t>
            </a:r>
            <a:r>
              <a:rPr lang="es-ES" sz="1300" dirty="0">
                <a:solidFill>
                  <a:schemeClr val="tx1"/>
                </a:solidFill>
                <a:latin typeface="Arial" panose="020B0604020202020204" pitchFamily="34" charset="0"/>
                <a:cs typeface="Arial" panose="020B0604020202020204" pitchFamily="34" charset="0"/>
              </a:rPr>
              <a:t> de la figura 30 tenemos que la polarización TE se mantiene prácticamente plana (pero no lo es), es decir, para esta polarización en una guía </a:t>
            </a:r>
            <a:r>
              <a:rPr lang="es-ES" sz="1300" dirty="0" err="1">
                <a:solidFill>
                  <a:schemeClr val="tx1"/>
                </a:solidFill>
                <a:latin typeface="Arial" panose="020B0604020202020204" pitchFamily="34" charset="0"/>
                <a:cs typeface="Arial" panose="020B0604020202020204" pitchFamily="34" charset="0"/>
              </a:rPr>
              <a:t>shallow</a:t>
            </a:r>
            <a:r>
              <a:rPr lang="es-ES" sz="1300" dirty="0">
                <a:solidFill>
                  <a:schemeClr val="tx1"/>
                </a:solidFill>
                <a:latin typeface="Arial" panose="020B0604020202020204" pitchFamily="34" charset="0"/>
                <a:cs typeface="Arial" panose="020B0604020202020204" pitchFamily="34" charset="0"/>
              </a:rPr>
              <a:t> el acoplamiento no se ve demasiado afectado por la longitud de onda. Por otro lado, el comportamiento para el modo TM es anómalo, parece representar una parábola, al principio según aumentamos la longitud de onda mejora el acoplamiento (dado que </a:t>
            </a:r>
            <a:r>
              <a:rPr lang="es-ES" sz="1300" dirty="0" err="1">
                <a:solidFill>
                  <a:schemeClr val="tx1"/>
                </a:solidFill>
                <a:latin typeface="Arial" panose="020B0604020202020204" pitchFamily="34" charset="0"/>
                <a:cs typeface="Arial" panose="020B0604020202020204" pitchFamily="34" charset="0"/>
              </a:rPr>
              <a:t>Lpi</a:t>
            </a:r>
            <a:r>
              <a:rPr lang="es-ES" sz="1300" dirty="0">
                <a:solidFill>
                  <a:schemeClr val="tx1"/>
                </a:solidFill>
                <a:latin typeface="Arial" panose="020B0604020202020204" pitchFamily="34" charset="0"/>
                <a:cs typeface="Arial" panose="020B0604020202020204" pitchFamily="34" charset="0"/>
              </a:rPr>
              <a:t> disminuye), sin embargo, cuando la longitud de onda alcanza los 1640 nm la </a:t>
            </a:r>
            <a:r>
              <a:rPr lang="es-ES" sz="1300" dirty="0" err="1">
                <a:solidFill>
                  <a:schemeClr val="tx1"/>
                </a:solidFill>
                <a:latin typeface="Arial" panose="020B0604020202020204" pitchFamily="34" charset="0"/>
                <a:cs typeface="Arial" panose="020B0604020202020204" pitchFamily="34" charset="0"/>
              </a:rPr>
              <a:t>Lpi</a:t>
            </a:r>
            <a:r>
              <a:rPr lang="es-ES" sz="1300" dirty="0">
                <a:solidFill>
                  <a:schemeClr val="tx1"/>
                </a:solidFill>
                <a:latin typeface="Arial" panose="020B0604020202020204" pitchFamily="34" charset="0"/>
                <a:cs typeface="Arial" panose="020B0604020202020204" pitchFamily="34" charset="0"/>
              </a:rPr>
              <a:t> vuelve a subir ligeramente indicando un empeoramiento del acoplo.</a:t>
            </a:r>
          </a:p>
          <a:p>
            <a:pPr algn="just"/>
            <a:endParaRPr lang="es-ES" sz="1300" dirty="0">
              <a:solidFill>
                <a:schemeClr val="tx1"/>
              </a:solidFill>
              <a:latin typeface="Arial" panose="020B0604020202020204" pitchFamily="34" charset="0"/>
              <a:cs typeface="Arial" panose="020B0604020202020204" pitchFamily="34" charset="0"/>
            </a:endParaRPr>
          </a:p>
          <a:p>
            <a:pPr algn="just"/>
            <a:r>
              <a:rPr lang="es-ES" sz="1300" dirty="0">
                <a:solidFill>
                  <a:schemeClr val="tx1"/>
                </a:solidFill>
                <a:latin typeface="Arial" panose="020B0604020202020204" pitchFamily="34" charset="0"/>
                <a:cs typeface="Arial" panose="020B0604020202020204" pitchFamily="34" charset="0"/>
              </a:rPr>
              <a:t>Hemos representado los resultados en un formato de tabla en los que se puede apreciar la variación de </a:t>
            </a:r>
            <a:r>
              <a:rPr lang="es-ES" sz="1300" dirty="0" err="1">
                <a:solidFill>
                  <a:schemeClr val="tx1"/>
                </a:solidFill>
                <a:latin typeface="Arial" panose="020B0604020202020204" pitchFamily="34" charset="0"/>
                <a:cs typeface="Arial" panose="020B0604020202020204" pitchFamily="34" charset="0"/>
              </a:rPr>
              <a:t>Lpi</a:t>
            </a:r>
            <a:r>
              <a:rPr lang="es-ES" sz="1300" dirty="0">
                <a:solidFill>
                  <a:schemeClr val="tx1"/>
                </a:solidFill>
                <a:latin typeface="Arial" panose="020B0604020202020204" pitchFamily="34" charset="0"/>
                <a:cs typeface="Arial" panose="020B0604020202020204" pitchFamily="34" charset="0"/>
              </a:rPr>
              <a:t> para ambas guías y ambos modos, dependiendo de una longitud de onda que varía 10 nm entre 1’5 </a:t>
            </a:r>
            <a:r>
              <a:rPr lang="es-ES" sz="1300" dirty="0" err="1">
                <a:solidFill>
                  <a:schemeClr val="tx1"/>
                </a:solidFill>
                <a:latin typeface="Arial" panose="020B0604020202020204" pitchFamily="34" charset="0"/>
                <a:cs typeface="Arial" panose="020B0604020202020204" pitchFamily="34" charset="0"/>
              </a:rPr>
              <a:t>um</a:t>
            </a:r>
            <a:r>
              <a:rPr lang="es-ES" sz="1300" dirty="0">
                <a:solidFill>
                  <a:schemeClr val="tx1"/>
                </a:solidFill>
                <a:latin typeface="Arial" panose="020B0604020202020204" pitchFamily="34" charset="0"/>
                <a:cs typeface="Arial" panose="020B0604020202020204" pitchFamily="34" charset="0"/>
              </a:rPr>
              <a:t> y 1’7 </a:t>
            </a:r>
            <a:r>
              <a:rPr lang="es-ES" sz="1300" dirty="0" err="1">
                <a:solidFill>
                  <a:schemeClr val="tx1"/>
                </a:solidFill>
                <a:latin typeface="Arial" panose="020B0604020202020204" pitchFamily="34" charset="0"/>
                <a:cs typeface="Arial" panose="020B0604020202020204" pitchFamily="34" charset="0"/>
              </a:rPr>
              <a:t>um</a:t>
            </a:r>
            <a:r>
              <a:rPr lang="es-ES" sz="1300" dirty="0">
                <a:solidFill>
                  <a:schemeClr val="tx1"/>
                </a:solidFill>
                <a:latin typeface="Arial" panose="020B0604020202020204" pitchFamily="34" charset="0"/>
                <a:cs typeface="Arial" panose="020B0604020202020204" pitchFamily="34" charset="0"/>
              </a:rPr>
              <a:t> (Tabla 1):</a:t>
            </a:r>
          </a:p>
          <a:p>
            <a:pPr algn="just"/>
            <a:endParaRPr lang="es-ES" sz="1300" dirty="0">
              <a:solidFill>
                <a:schemeClr val="tx1"/>
              </a:solidFill>
              <a:latin typeface="Arial" panose="020B0604020202020204" pitchFamily="34" charset="0"/>
              <a:cs typeface="Arial" panose="020B0604020202020204" pitchFamily="34" charset="0"/>
            </a:endParaRPr>
          </a:p>
          <a:p>
            <a:pPr algn="just"/>
            <a:endParaRPr lang="es-ES" sz="1300" dirty="0">
              <a:solidFill>
                <a:schemeClr val="tx1"/>
              </a:solidFill>
              <a:latin typeface="Arial" panose="020B0604020202020204" pitchFamily="34" charset="0"/>
              <a:cs typeface="Arial" panose="020B0604020202020204" pitchFamily="34" charset="0"/>
            </a:endParaRPr>
          </a:p>
          <a:p>
            <a:endParaRPr lang="es-ES" dirty="0"/>
          </a:p>
        </p:txBody>
      </p:sp>
      <p:sp>
        <p:nvSpPr>
          <p:cNvPr id="4" name="Marcador de pie de página 3">
            <a:extLst>
              <a:ext uri="{FF2B5EF4-FFF2-40B4-BE49-F238E27FC236}">
                <a16:creationId xmlns:a16="http://schemas.microsoft.com/office/drawing/2014/main" id="{E57BD1A2-5E52-C8B9-BD74-124F4045D2BA}"/>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558C6196-C929-9212-1F83-844A3B645AF5}"/>
              </a:ext>
            </a:extLst>
          </p:cNvPr>
          <p:cNvSpPr>
            <a:spLocks noGrp="1"/>
          </p:cNvSpPr>
          <p:nvPr>
            <p:ph type="sldNum" sz="quarter" idx="7"/>
          </p:nvPr>
        </p:nvSpPr>
        <p:spPr/>
        <p:txBody>
          <a:bodyPr/>
          <a:lstStyle/>
          <a:p>
            <a:fld id="{B6F15528-21DE-4FAA-801E-634DDDAF4B2B}" type="slidenum">
              <a:rPr lang="es-ES" smtClean="0"/>
              <a:t>23</a:t>
            </a:fld>
            <a:endParaRPr lang="es-ES"/>
          </a:p>
        </p:txBody>
      </p:sp>
      <p:pic>
        <p:nvPicPr>
          <p:cNvPr id="7" name="Imagen 6">
            <a:extLst>
              <a:ext uri="{FF2B5EF4-FFF2-40B4-BE49-F238E27FC236}">
                <a16:creationId xmlns:a16="http://schemas.microsoft.com/office/drawing/2014/main" id="{157EB943-8DD0-9651-A9C5-78ADB038B125}"/>
              </a:ext>
            </a:extLst>
          </p:cNvPr>
          <p:cNvPicPr>
            <a:picLocks noChangeAspect="1"/>
          </p:cNvPicPr>
          <p:nvPr/>
        </p:nvPicPr>
        <p:blipFill>
          <a:blip r:embed="rId2"/>
          <a:stretch>
            <a:fillRect/>
          </a:stretch>
        </p:blipFill>
        <p:spPr>
          <a:xfrm>
            <a:off x="3269932" y="2590800"/>
            <a:ext cx="5633085" cy="3677265"/>
          </a:xfrm>
          <a:prstGeom prst="rect">
            <a:avLst/>
          </a:prstGeom>
        </p:spPr>
      </p:pic>
      <p:sp>
        <p:nvSpPr>
          <p:cNvPr id="8" name="CuadroTexto 7">
            <a:extLst>
              <a:ext uri="{FF2B5EF4-FFF2-40B4-BE49-F238E27FC236}">
                <a16:creationId xmlns:a16="http://schemas.microsoft.com/office/drawing/2014/main" id="{C154AF5A-F1EB-E258-42C9-3100D0FF5750}"/>
              </a:ext>
            </a:extLst>
          </p:cNvPr>
          <p:cNvSpPr txBox="1"/>
          <p:nvPr/>
        </p:nvSpPr>
        <p:spPr>
          <a:xfrm>
            <a:off x="4829174" y="6281916"/>
            <a:ext cx="2514600" cy="369332"/>
          </a:xfrm>
          <a:prstGeom prst="rect">
            <a:avLst/>
          </a:prstGeom>
          <a:noFill/>
        </p:spPr>
        <p:txBody>
          <a:bodyPr wrap="square" rtlCol="0">
            <a:spAutoFit/>
          </a:bodyPr>
          <a:lstStyle/>
          <a:p>
            <a:pPr algn="ctr"/>
            <a:r>
              <a:rPr lang="es-ES" dirty="0"/>
              <a:t>Tabla 1</a:t>
            </a:r>
          </a:p>
        </p:txBody>
      </p:sp>
    </p:spTree>
    <p:extLst>
      <p:ext uri="{BB962C8B-B14F-4D97-AF65-F5344CB8AC3E}">
        <p14:creationId xmlns:p14="http://schemas.microsoft.com/office/powerpoint/2010/main" val="1462082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8" name="Imagen 7">
            <a:extLst>
              <a:ext uri="{FF2B5EF4-FFF2-40B4-BE49-F238E27FC236}">
                <a16:creationId xmlns:a16="http://schemas.microsoft.com/office/drawing/2014/main" id="{2FE6100C-B1EB-E6CF-7DCD-BECD13ED455C}"/>
              </a:ext>
            </a:extLst>
          </p:cNvPr>
          <p:cNvPicPr>
            <a:picLocks noChangeAspect="1"/>
          </p:cNvPicPr>
          <p:nvPr/>
        </p:nvPicPr>
        <p:blipFill>
          <a:blip r:embed="rId5"/>
          <a:stretch>
            <a:fillRect/>
          </a:stretch>
        </p:blipFill>
        <p:spPr>
          <a:xfrm>
            <a:off x="1066800" y="1295400"/>
            <a:ext cx="4314825" cy="3000375"/>
          </a:xfrm>
          <a:prstGeom prst="rect">
            <a:avLst/>
          </a:prstGeom>
        </p:spPr>
      </p:pic>
      <p:pic>
        <p:nvPicPr>
          <p:cNvPr id="12" name="Imagen 11">
            <a:extLst>
              <a:ext uri="{FF2B5EF4-FFF2-40B4-BE49-F238E27FC236}">
                <a16:creationId xmlns:a16="http://schemas.microsoft.com/office/drawing/2014/main" id="{A3C3005E-7433-EF70-D6BE-DE3512B8AD52}"/>
              </a:ext>
            </a:extLst>
          </p:cNvPr>
          <p:cNvPicPr>
            <a:picLocks noChangeAspect="1"/>
          </p:cNvPicPr>
          <p:nvPr/>
        </p:nvPicPr>
        <p:blipFill>
          <a:blip r:embed="rId6"/>
          <a:stretch>
            <a:fillRect/>
          </a:stretch>
        </p:blipFill>
        <p:spPr>
          <a:xfrm>
            <a:off x="6198882" y="1295399"/>
            <a:ext cx="4324350" cy="3000375"/>
          </a:xfrm>
          <a:prstGeom prst="rect">
            <a:avLst/>
          </a:prstGeom>
        </p:spPr>
      </p:pic>
      <p:sp>
        <p:nvSpPr>
          <p:cNvPr id="13" name="CuadroTexto 12">
            <a:extLst>
              <a:ext uri="{FF2B5EF4-FFF2-40B4-BE49-F238E27FC236}">
                <a16:creationId xmlns:a16="http://schemas.microsoft.com/office/drawing/2014/main" id="{52F94679-114C-E5A5-22DD-9033B1C4BD23}"/>
              </a:ext>
            </a:extLst>
          </p:cNvPr>
          <p:cNvSpPr txBox="1"/>
          <p:nvPr/>
        </p:nvSpPr>
        <p:spPr>
          <a:xfrm>
            <a:off x="2095500" y="4295774"/>
            <a:ext cx="2514600" cy="369332"/>
          </a:xfrm>
          <a:prstGeom prst="rect">
            <a:avLst/>
          </a:prstGeom>
          <a:noFill/>
        </p:spPr>
        <p:txBody>
          <a:bodyPr wrap="square" rtlCol="0">
            <a:spAutoFit/>
          </a:bodyPr>
          <a:lstStyle/>
          <a:p>
            <a:pPr algn="ctr"/>
            <a:r>
              <a:rPr lang="es-ES" dirty="0"/>
              <a:t>Figura 31</a:t>
            </a:r>
          </a:p>
        </p:txBody>
      </p:sp>
      <p:sp>
        <p:nvSpPr>
          <p:cNvPr id="14" name="CuadroTexto 13">
            <a:extLst>
              <a:ext uri="{FF2B5EF4-FFF2-40B4-BE49-F238E27FC236}">
                <a16:creationId xmlns:a16="http://schemas.microsoft.com/office/drawing/2014/main" id="{E81D3A7F-04B3-6D8F-6D88-47BD7B591921}"/>
              </a:ext>
            </a:extLst>
          </p:cNvPr>
          <p:cNvSpPr txBox="1"/>
          <p:nvPr/>
        </p:nvSpPr>
        <p:spPr>
          <a:xfrm>
            <a:off x="7239000" y="4292303"/>
            <a:ext cx="2514600" cy="369332"/>
          </a:xfrm>
          <a:prstGeom prst="rect">
            <a:avLst/>
          </a:prstGeom>
          <a:noFill/>
        </p:spPr>
        <p:txBody>
          <a:bodyPr wrap="square" rtlCol="0">
            <a:spAutoFit/>
          </a:bodyPr>
          <a:lstStyle/>
          <a:p>
            <a:pPr algn="ctr"/>
            <a:r>
              <a:rPr lang="es-ES" dirty="0"/>
              <a:t>Figura 32</a:t>
            </a:r>
          </a:p>
        </p:txBody>
      </p:sp>
      <p:sp>
        <p:nvSpPr>
          <p:cNvPr id="15" name="CuadroTexto 14">
            <a:extLst>
              <a:ext uri="{FF2B5EF4-FFF2-40B4-BE49-F238E27FC236}">
                <a16:creationId xmlns:a16="http://schemas.microsoft.com/office/drawing/2014/main" id="{0623E72E-F1B4-FB4D-1F31-4BB7FEBE5D0F}"/>
              </a:ext>
            </a:extLst>
          </p:cNvPr>
          <p:cNvSpPr txBox="1"/>
          <p:nvPr/>
        </p:nvSpPr>
        <p:spPr>
          <a:xfrm>
            <a:off x="609600" y="4724400"/>
            <a:ext cx="10994410" cy="1492716"/>
          </a:xfrm>
          <a:prstGeom prst="rect">
            <a:avLst/>
          </a:prstGeom>
          <a:noFill/>
        </p:spPr>
        <p:txBody>
          <a:bodyPr wrap="square" rtlCol="0">
            <a:spAutoFit/>
          </a:bodyPr>
          <a:lstStyle/>
          <a:p>
            <a:pPr algn="just"/>
            <a:r>
              <a:rPr lang="es-ES" sz="1300" dirty="0">
                <a:latin typeface="Arial" panose="020B0604020202020204" pitchFamily="34" charset="0"/>
                <a:cs typeface="Arial" panose="020B0604020202020204" pitchFamily="34" charset="0"/>
              </a:rPr>
              <a:t>Para el acoplador MMI tenemos que, tanto para la guía Deep como la </a:t>
            </a:r>
            <a:r>
              <a:rPr lang="es-ES" sz="1300" dirty="0" err="1">
                <a:latin typeface="Arial" panose="020B0604020202020204" pitchFamily="34" charset="0"/>
                <a:cs typeface="Arial" panose="020B0604020202020204" pitchFamily="34" charset="0"/>
              </a:rPr>
              <a:t>shallow</a:t>
            </a:r>
            <a:r>
              <a:rPr lang="es-ES" sz="1300" dirty="0">
                <a:latin typeface="Arial" panose="020B0604020202020204" pitchFamily="34" charset="0"/>
                <a:cs typeface="Arial" panose="020B0604020202020204" pitchFamily="34" charset="0"/>
              </a:rPr>
              <a:t> la </a:t>
            </a:r>
            <a:r>
              <a:rPr lang="es-ES" sz="1300" dirty="0" err="1">
                <a:latin typeface="Arial" panose="020B0604020202020204" pitchFamily="34" charset="0"/>
                <a:cs typeface="Arial" panose="020B0604020202020204" pitchFamily="34" charset="0"/>
              </a:rPr>
              <a:t>Lpi</a:t>
            </a:r>
            <a:r>
              <a:rPr lang="es-ES" sz="1300" dirty="0">
                <a:latin typeface="Arial" panose="020B0604020202020204" pitchFamily="34" charset="0"/>
                <a:cs typeface="Arial" panose="020B0604020202020204" pitchFamily="34" charset="0"/>
              </a:rPr>
              <a:t> es inversamente proporcional a la longitud de onda. El cambio de un modo a otro no produce grandes variaciones.</a:t>
            </a:r>
          </a:p>
          <a:p>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A diferencia del acoplador direccional el MMI es menos sensible a las variaciones de longitud de onda, especialmente en la guía </a:t>
            </a:r>
            <a:r>
              <a:rPr lang="es-ES" sz="1300" dirty="0" err="1">
                <a:latin typeface="Arial" panose="020B0604020202020204" pitchFamily="34" charset="0"/>
                <a:cs typeface="Arial" panose="020B0604020202020204" pitchFamily="34" charset="0"/>
              </a:rPr>
              <a:t>shallow</a:t>
            </a:r>
            <a:r>
              <a:rPr lang="es-ES" sz="1300" dirty="0">
                <a:latin typeface="Arial" panose="020B0604020202020204" pitchFamily="34" charset="0"/>
                <a:cs typeface="Arial" panose="020B0604020202020204" pitchFamily="34" charset="0"/>
              </a:rPr>
              <a:t>. Tiene sentido que </a:t>
            </a:r>
            <a:r>
              <a:rPr lang="es-ES" sz="1300" b="1" dirty="0">
                <a:latin typeface="Arial" panose="020B0604020202020204" pitchFamily="34" charset="0"/>
                <a:cs typeface="Arial" panose="020B0604020202020204" pitchFamily="34" charset="0"/>
              </a:rPr>
              <a:t>en el acoplador direccional </a:t>
            </a:r>
            <a:r>
              <a:rPr lang="es-ES" sz="1300" b="1" dirty="0" err="1">
                <a:latin typeface="Arial" panose="020B0604020202020204" pitchFamily="34" charset="0"/>
                <a:cs typeface="Arial" panose="020B0604020202020204" pitchFamily="34" charset="0"/>
              </a:rPr>
              <a:t>Lpi</a:t>
            </a:r>
            <a:r>
              <a:rPr lang="es-ES" sz="1300" b="1" dirty="0">
                <a:latin typeface="Arial" panose="020B0604020202020204" pitchFamily="34" charset="0"/>
                <a:cs typeface="Arial" panose="020B0604020202020204" pitchFamily="34" charset="0"/>
              </a:rPr>
              <a:t> varie más</a:t>
            </a:r>
            <a:r>
              <a:rPr lang="es-ES" sz="1300" dirty="0">
                <a:latin typeface="Arial" panose="020B0604020202020204" pitchFamily="34" charset="0"/>
                <a:cs typeface="Arial" panose="020B0604020202020204" pitchFamily="34" charset="0"/>
              </a:rPr>
              <a:t>, dado que el acoplamiento depende del </a:t>
            </a:r>
            <a:r>
              <a:rPr lang="es-ES" sz="1300" b="1" dirty="0">
                <a:latin typeface="Arial" panose="020B0604020202020204" pitchFamily="34" charset="0"/>
                <a:cs typeface="Arial" panose="020B0604020202020204" pitchFamily="34" charset="0"/>
              </a:rPr>
              <a:t>campo evanescente </a:t>
            </a:r>
            <a:r>
              <a:rPr lang="es-ES" sz="1300" dirty="0">
                <a:latin typeface="Arial" panose="020B0604020202020204" pitchFamily="34" charset="0"/>
                <a:cs typeface="Arial" panose="020B0604020202020204" pitchFamily="34" charset="0"/>
              </a:rPr>
              <a:t>(a mayor </a:t>
            </a:r>
            <a:r>
              <a:rPr lang="el-GR" sz="1300" b="0" i="0" dirty="0">
                <a:effectLst/>
                <a:highlight>
                  <a:srgbClr val="FFFFFF"/>
                </a:highlight>
                <a:latin typeface="Arial" panose="020B0604020202020204" pitchFamily="34" charset="0"/>
                <a:cs typeface="Arial" panose="020B0604020202020204" pitchFamily="34" charset="0"/>
              </a:rPr>
              <a:t>λ</a:t>
            </a:r>
            <a:r>
              <a:rPr lang="es-ES" sz="1300" b="0" i="0" dirty="0">
                <a:effectLst/>
                <a:highlight>
                  <a:srgbClr val="FFFFFF"/>
                </a:highlight>
                <a:latin typeface="Arial" panose="020B0604020202020204" pitchFamily="34" charset="0"/>
                <a:cs typeface="Arial" panose="020B0604020202020204" pitchFamily="34" charset="0"/>
              </a:rPr>
              <a:t> mayor evanescencia de la luz</a:t>
            </a:r>
            <a:r>
              <a:rPr lang="es-ES" sz="1300" dirty="0">
                <a:latin typeface="Arial" panose="020B0604020202020204" pitchFamily="34" charset="0"/>
                <a:cs typeface="Arial" panose="020B0604020202020204" pitchFamily="34" charset="0"/>
              </a:rPr>
              <a:t>), mientras que, en el </a:t>
            </a:r>
            <a:r>
              <a:rPr lang="es-ES" sz="1300" b="1" dirty="0">
                <a:latin typeface="Arial" panose="020B0604020202020204" pitchFamily="34" charset="0"/>
                <a:cs typeface="Arial" panose="020B0604020202020204" pitchFamily="34" charset="0"/>
              </a:rPr>
              <a:t>MMI el reparto de la luz se produce por interferencia de múltiples modos</a:t>
            </a:r>
            <a:r>
              <a:rPr lang="es-ES" sz="1300" dirty="0">
                <a:latin typeface="Arial" panose="020B0604020202020204" pitchFamily="34" charset="0"/>
                <a:cs typeface="Arial" panose="020B0604020202020204" pitchFamily="34" charset="0"/>
              </a:rPr>
              <a:t>, y esto lo hace </a:t>
            </a:r>
            <a:r>
              <a:rPr lang="es-ES" sz="1300" b="1" dirty="0">
                <a:latin typeface="Arial" panose="020B0604020202020204" pitchFamily="34" charset="0"/>
                <a:cs typeface="Arial" panose="020B0604020202020204" pitchFamily="34" charset="0"/>
              </a:rPr>
              <a:t>menos dependiente a las variaciones de la longitud de onda </a:t>
            </a:r>
            <a:r>
              <a:rPr lang="es-ES" sz="1300" dirty="0">
                <a:latin typeface="Arial" panose="020B0604020202020204" pitchFamily="34" charset="0"/>
                <a:cs typeface="Arial" panose="020B0604020202020204" pitchFamily="34" charset="0"/>
              </a:rPr>
              <a:t>con respecto al acoplador direccional.</a:t>
            </a:r>
          </a:p>
        </p:txBody>
      </p:sp>
    </p:spTree>
    <p:extLst>
      <p:ext uri="{BB962C8B-B14F-4D97-AF65-F5344CB8AC3E}">
        <p14:creationId xmlns:p14="http://schemas.microsoft.com/office/powerpoint/2010/main" val="955145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8" name="Imagen 7">
            <a:extLst>
              <a:ext uri="{FF2B5EF4-FFF2-40B4-BE49-F238E27FC236}">
                <a16:creationId xmlns:a16="http://schemas.microsoft.com/office/drawing/2014/main" id="{C8D5B6E7-F106-AC1D-6970-E3E5D1A2B5B7}"/>
              </a:ext>
            </a:extLst>
          </p:cNvPr>
          <p:cNvPicPr>
            <a:picLocks noChangeAspect="1"/>
          </p:cNvPicPr>
          <p:nvPr/>
        </p:nvPicPr>
        <p:blipFill>
          <a:blip r:embed="rId5"/>
          <a:stretch>
            <a:fillRect/>
          </a:stretch>
        </p:blipFill>
        <p:spPr>
          <a:xfrm>
            <a:off x="1066801" y="1325932"/>
            <a:ext cx="3733800" cy="2576732"/>
          </a:xfrm>
          <a:prstGeom prst="rect">
            <a:avLst/>
          </a:prstGeom>
        </p:spPr>
      </p:pic>
      <p:pic>
        <p:nvPicPr>
          <p:cNvPr id="12" name="Imagen 11">
            <a:extLst>
              <a:ext uri="{FF2B5EF4-FFF2-40B4-BE49-F238E27FC236}">
                <a16:creationId xmlns:a16="http://schemas.microsoft.com/office/drawing/2014/main" id="{2FBDE417-3F80-3D3F-FE53-1D5C51F5D167}"/>
              </a:ext>
            </a:extLst>
          </p:cNvPr>
          <p:cNvPicPr>
            <a:picLocks noChangeAspect="1"/>
          </p:cNvPicPr>
          <p:nvPr/>
        </p:nvPicPr>
        <p:blipFill>
          <a:blip r:embed="rId6"/>
          <a:stretch>
            <a:fillRect/>
          </a:stretch>
        </p:blipFill>
        <p:spPr>
          <a:xfrm>
            <a:off x="6121400" y="1331590"/>
            <a:ext cx="3725593" cy="2576732"/>
          </a:xfrm>
          <a:prstGeom prst="rect">
            <a:avLst/>
          </a:prstGeom>
        </p:spPr>
      </p:pic>
      <p:sp>
        <p:nvSpPr>
          <p:cNvPr id="13" name="CuadroTexto 12">
            <a:extLst>
              <a:ext uri="{FF2B5EF4-FFF2-40B4-BE49-F238E27FC236}">
                <a16:creationId xmlns:a16="http://schemas.microsoft.com/office/drawing/2014/main" id="{096D4861-42DF-8382-C265-5733671C8B8D}"/>
              </a:ext>
            </a:extLst>
          </p:cNvPr>
          <p:cNvSpPr txBox="1"/>
          <p:nvPr/>
        </p:nvSpPr>
        <p:spPr>
          <a:xfrm>
            <a:off x="1828800" y="3877953"/>
            <a:ext cx="2514600" cy="369332"/>
          </a:xfrm>
          <a:prstGeom prst="rect">
            <a:avLst/>
          </a:prstGeom>
          <a:noFill/>
        </p:spPr>
        <p:txBody>
          <a:bodyPr wrap="square" rtlCol="0">
            <a:spAutoFit/>
          </a:bodyPr>
          <a:lstStyle/>
          <a:p>
            <a:pPr algn="ctr"/>
            <a:r>
              <a:rPr lang="es-ES" dirty="0"/>
              <a:t>Figura 33</a:t>
            </a:r>
          </a:p>
        </p:txBody>
      </p:sp>
      <p:sp>
        <p:nvSpPr>
          <p:cNvPr id="14" name="CuadroTexto 13">
            <a:extLst>
              <a:ext uri="{FF2B5EF4-FFF2-40B4-BE49-F238E27FC236}">
                <a16:creationId xmlns:a16="http://schemas.microsoft.com/office/drawing/2014/main" id="{FF20FE81-220F-7A67-AD71-5B99355F4D30}"/>
              </a:ext>
            </a:extLst>
          </p:cNvPr>
          <p:cNvSpPr txBox="1"/>
          <p:nvPr/>
        </p:nvSpPr>
        <p:spPr>
          <a:xfrm>
            <a:off x="6822440" y="3877953"/>
            <a:ext cx="2514600" cy="369332"/>
          </a:xfrm>
          <a:prstGeom prst="rect">
            <a:avLst/>
          </a:prstGeom>
          <a:noFill/>
        </p:spPr>
        <p:txBody>
          <a:bodyPr wrap="square" rtlCol="0">
            <a:spAutoFit/>
          </a:bodyPr>
          <a:lstStyle/>
          <a:p>
            <a:pPr algn="ctr"/>
            <a:r>
              <a:rPr lang="es-ES" dirty="0"/>
              <a:t>Figura 34</a:t>
            </a:r>
          </a:p>
        </p:txBody>
      </p:sp>
      <p:sp>
        <p:nvSpPr>
          <p:cNvPr id="15" name="CuadroTexto 14">
            <a:extLst>
              <a:ext uri="{FF2B5EF4-FFF2-40B4-BE49-F238E27FC236}">
                <a16:creationId xmlns:a16="http://schemas.microsoft.com/office/drawing/2014/main" id="{148AB8FA-F997-F596-E2FA-FFF01CA4555D}"/>
              </a:ext>
            </a:extLst>
          </p:cNvPr>
          <p:cNvSpPr txBox="1"/>
          <p:nvPr/>
        </p:nvSpPr>
        <p:spPr>
          <a:xfrm>
            <a:off x="762000" y="4455729"/>
            <a:ext cx="10842010" cy="1892826"/>
          </a:xfrm>
          <a:prstGeom prst="rect">
            <a:avLst/>
          </a:prstGeom>
          <a:noFill/>
        </p:spPr>
        <p:txBody>
          <a:bodyPr wrap="square" rtlCol="0">
            <a:spAutoFit/>
          </a:bodyPr>
          <a:lstStyle/>
          <a:p>
            <a:pPr algn="just"/>
            <a:r>
              <a:rPr lang="es-ES" sz="1300" dirty="0">
                <a:latin typeface="Arial" panose="020B0604020202020204" pitchFamily="34" charset="0"/>
                <a:cs typeface="Arial" panose="020B0604020202020204" pitchFamily="34" charset="0"/>
              </a:rPr>
              <a:t>En las figuras 33 y 34 aparece de forma clara como el aumento de </a:t>
            </a:r>
            <a:r>
              <a:rPr lang="es-ES" sz="1300" dirty="0" err="1">
                <a:latin typeface="Arial" panose="020B0604020202020204" pitchFamily="34" charset="0"/>
                <a:cs typeface="Arial" panose="020B0604020202020204" pitchFamily="34" charset="0"/>
              </a:rPr>
              <a:t>Lpi</a:t>
            </a:r>
            <a:r>
              <a:rPr lang="es-ES" sz="1300" dirty="0">
                <a:latin typeface="Arial" panose="020B0604020202020204" pitchFamily="34" charset="0"/>
                <a:cs typeface="Arial" panose="020B0604020202020204" pitchFamily="34" charset="0"/>
              </a:rPr>
              <a:t> es directamente proporcional al aumento de la anchura. Para ambas guías se asemejan mucho los 2 tipos de polarizaciones.</a:t>
            </a:r>
          </a:p>
          <a:p>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En la guía Deep no apreciamos ningún punto, para el rango de anchuras dado, en el cual el acoplador MMI funcione de forma idéntica para TE y TM, quedando siempre TM ligeramente por encima de TE.</a:t>
            </a:r>
          </a:p>
          <a:p>
            <a:endParaRPr lang="es-ES" sz="1300" dirty="0">
              <a:latin typeface="Arial" panose="020B0604020202020204" pitchFamily="34" charset="0"/>
              <a:cs typeface="Arial" panose="020B0604020202020204" pitchFamily="34" charset="0"/>
            </a:endParaRPr>
          </a:p>
          <a:p>
            <a:pPr algn="just"/>
            <a:r>
              <a:rPr lang="es-ES" sz="1300" dirty="0">
                <a:latin typeface="Arial" panose="020B0604020202020204" pitchFamily="34" charset="0"/>
                <a:cs typeface="Arial" panose="020B0604020202020204" pitchFamily="34" charset="0"/>
              </a:rPr>
              <a:t>En la guía </a:t>
            </a:r>
            <a:r>
              <a:rPr lang="es-ES" sz="1300" dirty="0" err="1">
                <a:latin typeface="Arial" panose="020B0604020202020204" pitchFamily="34" charset="0"/>
                <a:cs typeface="Arial" panose="020B0604020202020204" pitchFamily="34" charset="0"/>
              </a:rPr>
              <a:t>shallow</a:t>
            </a:r>
            <a:r>
              <a:rPr lang="es-ES" sz="1300" dirty="0">
                <a:latin typeface="Arial" panose="020B0604020202020204" pitchFamily="34" charset="0"/>
                <a:cs typeface="Arial" panose="020B0604020202020204" pitchFamily="34" charset="0"/>
              </a:rPr>
              <a:t> tenemos que, para una anchura de 10 </a:t>
            </a:r>
            <a:r>
              <a:rPr lang="es-ES" sz="1300" dirty="0" err="1">
                <a:latin typeface="Arial" panose="020B0604020202020204" pitchFamily="34" charset="0"/>
                <a:cs typeface="Arial" panose="020B0604020202020204" pitchFamily="34" charset="0"/>
              </a:rPr>
              <a:t>um</a:t>
            </a:r>
            <a:r>
              <a:rPr lang="es-ES" sz="1300" dirty="0">
                <a:latin typeface="Arial" panose="020B0604020202020204" pitchFamily="34" charset="0"/>
                <a:cs typeface="Arial" panose="020B0604020202020204" pitchFamily="34" charset="0"/>
              </a:rPr>
              <a:t> parece coincidir la </a:t>
            </a:r>
            <a:r>
              <a:rPr lang="es-ES" sz="1300" dirty="0" err="1">
                <a:latin typeface="Arial" panose="020B0604020202020204" pitchFamily="34" charset="0"/>
                <a:cs typeface="Arial" panose="020B0604020202020204" pitchFamily="34" charset="0"/>
              </a:rPr>
              <a:t>Lpi</a:t>
            </a:r>
            <a:r>
              <a:rPr lang="es-ES" sz="1300" dirty="0">
                <a:latin typeface="Arial" panose="020B0604020202020204" pitchFamily="34" charset="0"/>
                <a:cs typeface="Arial" panose="020B0604020202020204" pitchFamily="34" charset="0"/>
              </a:rPr>
              <a:t> en ambos modos, pero no es así, siguen diferenciándose ligeramente (observar la Tabla 2 de la siguiente diapositiva). </a:t>
            </a:r>
            <a:r>
              <a:rPr lang="es-ES" sz="1300" b="1" dirty="0">
                <a:latin typeface="Arial" panose="020B0604020202020204" pitchFamily="34" charset="0"/>
                <a:cs typeface="Arial" panose="020B0604020202020204" pitchFamily="34" charset="0"/>
              </a:rPr>
              <a:t>Respondiendo a la pregunta, para el rango de anchuras dado no hay ningún punto en el que el acoplador MMI funcione de manera idéntica, muy parecida sí, pero no idéntica.</a:t>
            </a:r>
          </a:p>
        </p:txBody>
      </p:sp>
    </p:spTree>
    <p:extLst>
      <p:ext uri="{BB962C8B-B14F-4D97-AF65-F5344CB8AC3E}">
        <p14:creationId xmlns:p14="http://schemas.microsoft.com/office/powerpoint/2010/main" val="535939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2B9BB5-F34D-CA67-893E-510CFC7FB6B5}"/>
              </a:ext>
            </a:extLst>
          </p:cNvPr>
          <p:cNvSpPr>
            <a:spLocks noGrp="1"/>
          </p:cNvSpPr>
          <p:nvPr>
            <p:ph type="title"/>
          </p:nvPr>
        </p:nvSpPr>
        <p:spPr>
          <a:xfrm>
            <a:off x="590550" y="206752"/>
            <a:ext cx="10991850" cy="692497"/>
          </a:xfrm>
        </p:spPr>
        <p:txBody>
          <a:bodyPr/>
          <a:lstStyle/>
          <a:p>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s-ES" dirty="0"/>
          </a:p>
        </p:txBody>
      </p:sp>
      <p:sp>
        <p:nvSpPr>
          <p:cNvPr id="3" name="Marcador de texto 2">
            <a:extLst>
              <a:ext uri="{FF2B5EF4-FFF2-40B4-BE49-F238E27FC236}">
                <a16:creationId xmlns:a16="http://schemas.microsoft.com/office/drawing/2014/main" id="{CC670F44-0B25-730C-F4E0-313A45D26A85}"/>
              </a:ext>
            </a:extLst>
          </p:cNvPr>
          <p:cNvSpPr>
            <a:spLocks noGrp="1"/>
          </p:cNvSpPr>
          <p:nvPr>
            <p:ph type="body" idx="1"/>
          </p:nvPr>
        </p:nvSpPr>
        <p:spPr>
          <a:xfrm>
            <a:off x="609600" y="1143000"/>
            <a:ext cx="10972800" cy="4960620"/>
          </a:xfrm>
        </p:spPr>
        <p:txBody>
          <a:bodyPr/>
          <a:lstStyle/>
          <a:p>
            <a:endParaRPr lang="es-ES" dirty="0"/>
          </a:p>
        </p:txBody>
      </p:sp>
      <p:sp>
        <p:nvSpPr>
          <p:cNvPr id="4" name="Marcador de pie de página 3">
            <a:extLst>
              <a:ext uri="{FF2B5EF4-FFF2-40B4-BE49-F238E27FC236}">
                <a16:creationId xmlns:a16="http://schemas.microsoft.com/office/drawing/2014/main" id="{5308924D-C234-D8A0-621D-EB7E49F7B6C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F242449D-5E71-F87E-AE17-B8C471471EEC}"/>
              </a:ext>
            </a:extLst>
          </p:cNvPr>
          <p:cNvSpPr>
            <a:spLocks noGrp="1"/>
          </p:cNvSpPr>
          <p:nvPr>
            <p:ph type="sldNum" sz="quarter" idx="7"/>
          </p:nvPr>
        </p:nvSpPr>
        <p:spPr/>
        <p:txBody>
          <a:bodyPr/>
          <a:lstStyle/>
          <a:p>
            <a:fld id="{B6F15528-21DE-4FAA-801E-634DDDAF4B2B}" type="slidenum">
              <a:rPr lang="es-ES" smtClean="0"/>
              <a:t>26</a:t>
            </a:fld>
            <a:endParaRPr lang="es-ES"/>
          </a:p>
        </p:txBody>
      </p:sp>
      <p:pic>
        <p:nvPicPr>
          <p:cNvPr id="7" name="Imagen 6">
            <a:extLst>
              <a:ext uri="{FF2B5EF4-FFF2-40B4-BE49-F238E27FC236}">
                <a16:creationId xmlns:a16="http://schemas.microsoft.com/office/drawing/2014/main" id="{1372903C-119E-B6A3-892D-54DF2AC77934}"/>
              </a:ext>
            </a:extLst>
          </p:cNvPr>
          <p:cNvPicPr>
            <a:picLocks noChangeAspect="1"/>
          </p:cNvPicPr>
          <p:nvPr/>
        </p:nvPicPr>
        <p:blipFill>
          <a:blip r:embed="rId2"/>
          <a:stretch>
            <a:fillRect/>
          </a:stretch>
        </p:blipFill>
        <p:spPr>
          <a:xfrm>
            <a:off x="838200" y="1447800"/>
            <a:ext cx="6581914" cy="2662237"/>
          </a:xfrm>
          <a:prstGeom prst="rect">
            <a:avLst/>
          </a:prstGeom>
        </p:spPr>
      </p:pic>
      <p:sp>
        <p:nvSpPr>
          <p:cNvPr id="8" name="CuadroTexto 7">
            <a:extLst>
              <a:ext uri="{FF2B5EF4-FFF2-40B4-BE49-F238E27FC236}">
                <a16:creationId xmlns:a16="http://schemas.microsoft.com/office/drawing/2014/main" id="{2A00B86B-0242-479E-C5A1-B54F24CD0CCC}"/>
              </a:ext>
            </a:extLst>
          </p:cNvPr>
          <p:cNvSpPr txBox="1"/>
          <p:nvPr/>
        </p:nvSpPr>
        <p:spPr>
          <a:xfrm>
            <a:off x="2590800" y="4110037"/>
            <a:ext cx="2514600" cy="369332"/>
          </a:xfrm>
          <a:prstGeom prst="rect">
            <a:avLst/>
          </a:prstGeom>
          <a:noFill/>
        </p:spPr>
        <p:txBody>
          <a:bodyPr wrap="square" rtlCol="0">
            <a:spAutoFit/>
          </a:bodyPr>
          <a:lstStyle/>
          <a:p>
            <a:pPr algn="ctr"/>
            <a:r>
              <a:rPr lang="es-ES" dirty="0"/>
              <a:t>Tabla 2</a:t>
            </a:r>
          </a:p>
        </p:txBody>
      </p:sp>
      <p:sp>
        <p:nvSpPr>
          <p:cNvPr id="10" name="CuadroTexto 9">
            <a:extLst>
              <a:ext uri="{FF2B5EF4-FFF2-40B4-BE49-F238E27FC236}">
                <a16:creationId xmlns:a16="http://schemas.microsoft.com/office/drawing/2014/main" id="{83F60D7F-37F2-A2D2-D053-66C05D06D212}"/>
              </a:ext>
            </a:extLst>
          </p:cNvPr>
          <p:cNvSpPr txBox="1"/>
          <p:nvPr/>
        </p:nvSpPr>
        <p:spPr>
          <a:xfrm>
            <a:off x="7696200" y="1524000"/>
            <a:ext cx="3657600" cy="2292935"/>
          </a:xfrm>
          <a:prstGeom prst="rect">
            <a:avLst/>
          </a:prstGeom>
          <a:noFill/>
        </p:spPr>
        <p:txBody>
          <a:bodyPr wrap="square" rtlCol="0">
            <a:spAutoFit/>
          </a:bodyPr>
          <a:lstStyle/>
          <a:p>
            <a:r>
              <a:rPr lang="es-ES" sz="1300" b="1" dirty="0">
                <a:latin typeface="Arial" panose="020B0604020202020204" pitchFamily="34" charset="0"/>
                <a:cs typeface="Arial" panose="020B0604020202020204" pitchFamily="34" charset="0"/>
              </a:rPr>
              <a:t>Ancho Óptimo = 10 </a:t>
            </a:r>
            <a:r>
              <a:rPr lang="es-ES" sz="1300" b="1" dirty="0" err="1">
                <a:latin typeface="Arial" panose="020B0604020202020204" pitchFamily="34" charset="0"/>
                <a:cs typeface="Arial" panose="020B0604020202020204" pitchFamily="34" charset="0"/>
              </a:rPr>
              <a:t>um</a:t>
            </a:r>
            <a:endParaRPr lang="es-ES" sz="1300" b="1" dirty="0">
              <a:latin typeface="Arial" panose="020B0604020202020204" pitchFamily="34" charset="0"/>
              <a:cs typeface="Arial" panose="020B0604020202020204" pitchFamily="34" charset="0"/>
            </a:endParaRPr>
          </a:p>
          <a:p>
            <a:endParaRPr lang="es-ES" sz="1300" dirty="0">
              <a:latin typeface="Arial" panose="020B0604020202020204" pitchFamily="34" charset="0"/>
              <a:cs typeface="Arial" panose="020B0604020202020204" pitchFamily="34" charset="0"/>
            </a:endParaRPr>
          </a:p>
          <a:p>
            <a:r>
              <a:rPr lang="es-ES" sz="1300" dirty="0">
                <a:latin typeface="Arial" panose="020B0604020202020204" pitchFamily="34" charset="0"/>
                <a:cs typeface="Arial" panose="020B0604020202020204" pitchFamily="34" charset="0"/>
              </a:rPr>
              <a:t>Guía Deep:</a:t>
            </a:r>
          </a:p>
          <a:p>
            <a:pPr marL="285750" indent="-285750">
              <a:buFontTx/>
              <a:buChar char="-"/>
            </a:pPr>
            <a:r>
              <a:rPr lang="es-ES" sz="1300" dirty="0" err="1">
                <a:latin typeface="Arial" panose="020B0604020202020204" pitchFamily="34" charset="0"/>
                <a:cs typeface="Arial" panose="020B0604020202020204" pitchFamily="34" charset="0"/>
              </a:rPr>
              <a:t>Lpi</a:t>
            </a:r>
            <a:r>
              <a:rPr lang="es-ES" sz="1300" dirty="0">
                <a:latin typeface="Arial" panose="020B0604020202020204" pitchFamily="34" charset="0"/>
                <a:cs typeface="Arial" panose="020B0604020202020204" pitchFamily="34" charset="0"/>
              </a:rPr>
              <a:t> TE = 153’77 </a:t>
            </a:r>
            <a:r>
              <a:rPr lang="es-ES" sz="1300" dirty="0" err="1">
                <a:latin typeface="Arial" panose="020B0604020202020204" pitchFamily="34" charset="0"/>
                <a:cs typeface="Arial" panose="020B0604020202020204" pitchFamily="34" charset="0"/>
              </a:rPr>
              <a:t>um</a:t>
            </a:r>
            <a:endParaRPr lang="es-ES" sz="1300" dirty="0">
              <a:latin typeface="Arial" panose="020B0604020202020204" pitchFamily="34" charset="0"/>
              <a:cs typeface="Arial" panose="020B0604020202020204" pitchFamily="34" charset="0"/>
            </a:endParaRPr>
          </a:p>
          <a:p>
            <a:pPr marL="285750" indent="-285750">
              <a:buFontTx/>
              <a:buChar char="-"/>
            </a:pPr>
            <a:r>
              <a:rPr lang="es-ES" sz="1300" dirty="0" err="1">
                <a:latin typeface="Arial" panose="020B0604020202020204" pitchFamily="34" charset="0"/>
                <a:cs typeface="Arial" panose="020B0604020202020204" pitchFamily="34" charset="0"/>
              </a:rPr>
              <a:t>Lpi</a:t>
            </a:r>
            <a:r>
              <a:rPr lang="es-ES" sz="1300" dirty="0">
                <a:latin typeface="Arial" panose="020B0604020202020204" pitchFamily="34" charset="0"/>
                <a:cs typeface="Arial" panose="020B0604020202020204" pitchFamily="34" charset="0"/>
              </a:rPr>
              <a:t> TM = 155’37 </a:t>
            </a:r>
            <a:r>
              <a:rPr lang="es-ES" sz="1300" dirty="0" err="1">
                <a:latin typeface="Arial" panose="020B0604020202020204" pitchFamily="34" charset="0"/>
                <a:cs typeface="Arial" panose="020B0604020202020204" pitchFamily="34" charset="0"/>
              </a:rPr>
              <a:t>um</a:t>
            </a:r>
            <a:endParaRPr lang="es-ES" sz="1300" dirty="0">
              <a:latin typeface="Arial" panose="020B0604020202020204" pitchFamily="34" charset="0"/>
              <a:cs typeface="Arial" panose="020B0604020202020204" pitchFamily="34" charset="0"/>
            </a:endParaRPr>
          </a:p>
          <a:p>
            <a:pPr marL="285750" indent="-285750">
              <a:buFontTx/>
              <a:buChar char="-"/>
            </a:pPr>
            <a:r>
              <a:rPr lang="es-ES" sz="1300" dirty="0">
                <a:latin typeface="Arial" panose="020B0604020202020204" pitchFamily="34" charset="0"/>
                <a:cs typeface="Arial" panose="020B0604020202020204" pitchFamily="34" charset="0"/>
              </a:rPr>
              <a:t>Diferencia = 1’6 </a:t>
            </a:r>
            <a:r>
              <a:rPr lang="es-ES" sz="1300" dirty="0" err="1">
                <a:latin typeface="Arial" panose="020B0604020202020204" pitchFamily="34" charset="0"/>
                <a:cs typeface="Arial" panose="020B0604020202020204" pitchFamily="34" charset="0"/>
              </a:rPr>
              <a:t>um</a:t>
            </a:r>
            <a:endParaRPr lang="es-ES" sz="1300" dirty="0">
              <a:latin typeface="Arial" panose="020B0604020202020204" pitchFamily="34" charset="0"/>
              <a:cs typeface="Arial" panose="020B0604020202020204" pitchFamily="34" charset="0"/>
            </a:endParaRPr>
          </a:p>
          <a:p>
            <a:pPr marL="285750" indent="-285750">
              <a:buFontTx/>
              <a:buChar char="-"/>
            </a:pPr>
            <a:endParaRPr lang="es-ES" sz="1300" dirty="0">
              <a:latin typeface="Arial" panose="020B0604020202020204" pitchFamily="34" charset="0"/>
              <a:cs typeface="Arial" panose="020B0604020202020204" pitchFamily="34" charset="0"/>
            </a:endParaRPr>
          </a:p>
          <a:p>
            <a:r>
              <a:rPr lang="es-ES" sz="1300" dirty="0">
                <a:latin typeface="Arial" panose="020B0604020202020204" pitchFamily="34" charset="0"/>
                <a:cs typeface="Arial" panose="020B0604020202020204" pitchFamily="34" charset="0"/>
              </a:rPr>
              <a:t>Guía </a:t>
            </a:r>
            <a:r>
              <a:rPr lang="es-ES" sz="1300" dirty="0" err="1">
                <a:latin typeface="Arial" panose="020B0604020202020204" pitchFamily="34" charset="0"/>
                <a:cs typeface="Arial" panose="020B0604020202020204" pitchFamily="34" charset="0"/>
              </a:rPr>
              <a:t>Shallow</a:t>
            </a:r>
            <a:r>
              <a:rPr lang="es-ES" sz="1300" dirty="0">
                <a:latin typeface="Arial" panose="020B0604020202020204" pitchFamily="34" charset="0"/>
                <a:cs typeface="Arial" panose="020B0604020202020204" pitchFamily="34" charset="0"/>
              </a:rPr>
              <a:t>:</a:t>
            </a:r>
          </a:p>
          <a:p>
            <a:pPr marL="285750" indent="-285750">
              <a:buFontTx/>
              <a:buChar char="-"/>
            </a:pPr>
            <a:r>
              <a:rPr lang="es-ES" sz="1300" dirty="0" err="1">
                <a:latin typeface="Arial" panose="020B0604020202020204" pitchFamily="34" charset="0"/>
                <a:cs typeface="Arial" panose="020B0604020202020204" pitchFamily="34" charset="0"/>
              </a:rPr>
              <a:t>Lpi</a:t>
            </a:r>
            <a:r>
              <a:rPr lang="es-ES" sz="1300" dirty="0">
                <a:latin typeface="Arial" panose="020B0604020202020204" pitchFamily="34" charset="0"/>
                <a:cs typeface="Arial" panose="020B0604020202020204" pitchFamily="34" charset="0"/>
              </a:rPr>
              <a:t> TE = 161’99 </a:t>
            </a:r>
            <a:r>
              <a:rPr lang="es-ES" sz="1300" dirty="0" err="1">
                <a:latin typeface="Arial" panose="020B0604020202020204" pitchFamily="34" charset="0"/>
                <a:cs typeface="Arial" panose="020B0604020202020204" pitchFamily="34" charset="0"/>
              </a:rPr>
              <a:t>um</a:t>
            </a:r>
            <a:endParaRPr lang="es-ES" sz="1300" dirty="0">
              <a:latin typeface="Arial" panose="020B0604020202020204" pitchFamily="34" charset="0"/>
              <a:cs typeface="Arial" panose="020B0604020202020204" pitchFamily="34" charset="0"/>
            </a:endParaRPr>
          </a:p>
          <a:p>
            <a:pPr marL="285750" indent="-285750">
              <a:buFontTx/>
              <a:buChar char="-"/>
            </a:pPr>
            <a:r>
              <a:rPr lang="es-ES" sz="1300" dirty="0" err="1">
                <a:latin typeface="Arial" panose="020B0604020202020204" pitchFamily="34" charset="0"/>
                <a:cs typeface="Arial" panose="020B0604020202020204" pitchFamily="34" charset="0"/>
              </a:rPr>
              <a:t>Lpi</a:t>
            </a:r>
            <a:r>
              <a:rPr lang="es-ES" sz="1300" dirty="0">
                <a:latin typeface="Arial" panose="020B0604020202020204" pitchFamily="34" charset="0"/>
                <a:cs typeface="Arial" panose="020B0604020202020204" pitchFamily="34" charset="0"/>
              </a:rPr>
              <a:t> TM = 161’86 </a:t>
            </a:r>
            <a:r>
              <a:rPr lang="es-ES" sz="1300" dirty="0" err="1">
                <a:latin typeface="Arial" panose="020B0604020202020204" pitchFamily="34" charset="0"/>
                <a:cs typeface="Arial" panose="020B0604020202020204" pitchFamily="34" charset="0"/>
              </a:rPr>
              <a:t>um</a:t>
            </a:r>
            <a:endParaRPr lang="es-ES" sz="1300" dirty="0">
              <a:latin typeface="Arial" panose="020B0604020202020204" pitchFamily="34" charset="0"/>
              <a:cs typeface="Arial" panose="020B0604020202020204" pitchFamily="34" charset="0"/>
            </a:endParaRPr>
          </a:p>
          <a:p>
            <a:pPr marL="285750" indent="-285750">
              <a:buFontTx/>
              <a:buChar char="-"/>
            </a:pPr>
            <a:r>
              <a:rPr lang="es-ES" sz="1300" dirty="0">
                <a:latin typeface="Arial" panose="020B0604020202020204" pitchFamily="34" charset="0"/>
                <a:cs typeface="Arial" panose="020B0604020202020204" pitchFamily="34" charset="0"/>
              </a:rPr>
              <a:t>Diferencia = 0’13 </a:t>
            </a:r>
            <a:r>
              <a:rPr lang="es-ES" sz="1300" dirty="0" err="1">
                <a:latin typeface="Arial" panose="020B0604020202020204" pitchFamily="34" charset="0"/>
                <a:cs typeface="Arial" panose="020B0604020202020204" pitchFamily="34" charset="0"/>
              </a:rPr>
              <a:t>um</a:t>
            </a:r>
            <a:endParaRPr lang="es-ES" sz="13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05984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27</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18738</TotalTime>
  <Words>3521</Words>
  <Application>Microsoft Office PowerPoint</Application>
  <PresentationFormat>Panorámica</PresentationFormat>
  <Paragraphs>356</Paragraphs>
  <Slides>27</Slides>
  <Notes>13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27</vt:i4>
      </vt:variant>
    </vt:vector>
  </HeadingPairs>
  <TitlesOfParts>
    <vt:vector size="36" baseType="lpstr">
      <vt:lpstr>Aptos</vt:lpstr>
      <vt:lpstr>Arial</vt:lpstr>
      <vt:lpstr>Calibri</vt:lpstr>
      <vt:lpstr>Cambria Math</vt:lpstr>
      <vt:lpstr>Consolas</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Learning outcome #1 – Directional coupler cross-section in GDSFactory </vt:lpstr>
      <vt:lpstr>Learning outcome #1 – Directional coupler cross-section in GDSFactory </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Learning outcome #5 – Multimode Interference (MMI) Coupler cross-section</vt:lpstr>
      <vt:lpstr>Learning outcome #5 – Multimode Interference (MMI) Coupler cross-section</vt:lpstr>
      <vt:lpstr>Learning outcome #5 – Multimode Interference (MMI) Coupler cross-section</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12 µm</vt:lpstr>
      <vt:lpstr>Extra #1 – Directional coupler gap dependence Wavelength 1.55 µm, width 1.0 µm, gap 0.2-2.4 µm (step 0.2 µm) </vt:lpstr>
      <vt:lpstr>Extra #2 – Directional wavelength dependence Wavelengths from 1.5 to 1.7 µm, gap = 0.6 µm, width 1.0 µm  </vt:lpstr>
      <vt:lpstr>Extra #2 – Directional wavelength dependence Wavelengths from 1.5 to 1.7 µm, gap = 0.6 µm, width 1.0 µm</vt:lpstr>
      <vt:lpstr>Extra #3 – MMI coupler wavelength dependence Wavelengths from 1.5 to 1.7 µm, wMMI = 6.6 µm</vt:lpstr>
      <vt:lpstr>Extra #4 – MMI coupler body width dependence Wavelength 1.55 µm, wMMI = 5-10 µm (steps 0.5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Javier Prieto Llano</cp:lastModifiedBy>
  <cp:revision>42</cp:revision>
  <dcterms:created xsi:type="dcterms:W3CDTF">2025-01-27T02:46:57Z</dcterms:created>
  <dcterms:modified xsi:type="dcterms:W3CDTF">2026-05-03T00:30:58Z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